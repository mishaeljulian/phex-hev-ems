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3E438-8C31-4240-A947-C5465692B228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7CA57-8A19-4C6F-B345-6649E051FB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30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to the PHEX HEV Energy Management System technical review.</a:t>
            </a:r>
          </a:p>
          <a:p>
            <a:r>
              <a:rPr lang="en-US"/>
              <a:t>This presentation covers the AI supervisory controller proof-of-concept developed during the internship.</a:t>
            </a:r>
          </a:p>
          <a:p>
            <a:r>
              <a:rPr lang="en-US"/>
              <a:t>We will walk through the system architecture, demand forecasting layer, ML classifier, safety overrides, and simulation validation results.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7CA57-8A19-4C6F-B345-6649E051FB4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376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establishes why traditional rule-based energy management is insufficient.</a:t>
            </a:r>
          </a:p>
          <a:p>
            <a:r>
              <a:rPr lang="en-US"/>
              <a:t>Key point: reactive EMS controllers cannot anticipate future driving conditions, leading to suboptimal mode switching. Our power demand distribution shows the wide range of operating conditions the system must handle — from regenerative braking (negative power) to high-demand acceleration events exceeding 30 kW.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7CA57-8A19-4C6F-B345-6649E051FB4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677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core objective is building a predictive supervisory controller — not a simple rule-matching engine. The system must handle 6 distinct powertrain operating modes and make real-time decisions that balance efficiency, battery longevity, and safety.</a:t>
            </a:r>
          </a:p>
          <a:p>
            <a:r>
              <a:rPr lang="en-US"/>
              <a:t>The team architecture diagram shows how four team members contribute complementary subsystems that integrate into the central EMS intelligence module.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27CA57-8A19-4C6F-B345-6649E051FB4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34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653B-B305-D2A3-5018-91563B332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E2E10-24DC-41BD-620F-D8B49C001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0D5B-529D-10FE-0686-65A149A7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81C61-AF5C-E636-E49D-2C18C34BA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74D7-D5B0-4FBF-4A94-C50EA8FC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06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D75D-1725-5915-2280-2BCA187E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07316-820B-DACB-CA5C-AA03C2128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4765A-CABC-99C9-7DE9-D06B702D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0209C-A4D4-730F-1051-51D9AFAA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4C72-6BE9-B5E6-ECD8-9360CA9B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992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C614-83C6-4257-F4F6-65954173D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2408F-27EA-CF67-F262-CCAF9A67A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EDB82-3D79-CC9A-D3DB-543B5BAB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2296E-A4D8-21FA-B173-B9571BEE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056-A3F6-2058-41FD-45F40E1AF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77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D2E3-69F0-BE90-B355-D0D2D7AE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7ED2B-2F63-939A-AF56-C80373DF1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9515A-867C-F3B6-9DCC-BCC864072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35B27-678E-8EE2-1B29-F6BB7352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AF093-B0CD-4A67-FDCC-3FE5E2B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33913-D0E9-CCE5-FE0F-6CD02455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0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D648-187D-369C-EDE7-D7B303C08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184FA-23BA-9AA4-5D33-53A900258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40CF5-F9BF-5272-F68F-19F0272C6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7E1F1-33E7-1AB0-A460-2183159E0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8789B0-6C83-0C20-B962-B4A4656E0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E18C4E-2FC3-76B3-EFE3-E081D311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B6834-51BB-9BFD-D74E-7837D034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6E111-BDB7-3BE9-D79A-73EE6B30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52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2106-A752-E145-9047-16BE37DE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ECCBF-A436-6CBE-1697-F6CB2BCC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14847-CAC2-357B-8D22-463B89A4A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22C6E-6F95-BBB4-A11A-525D49F9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95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8EB13B-5F23-4CC1-32A0-64413CAB7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35557-D0F0-F190-7F68-338DA258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90DDB-F38A-F34E-739E-B11E2943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11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0C6B-DA12-C587-202B-B5158CCB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9D70E-5182-020B-58AD-28CCB430F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B7146-88A2-F6F4-5E40-869731745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AC39F-325D-C0CC-2BA8-C974FE51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4A4DE-6E39-96BD-48CD-84EF2109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13D5-E511-CEAE-7F6B-FD7110C6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86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2F42-1769-F612-7F64-A0B26C5D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92AA6-5FAA-B685-4264-5EB72E41A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A83FE-A5A7-D8A7-1CC5-2338704E0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E0F5B-AE71-7198-F1E3-BDD9FC5E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91D6B-F10E-F056-8664-F12C7C43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DF05F-9B95-E24A-4CA5-42F3993E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17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22E8-7AEE-594C-4D96-314BB8AA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C1AB1-2DC0-56FC-1C3D-0B1B1F737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7D8AA-E1A6-6FD7-C9AC-F8F27124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5E94-FD02-35F9-FDD6-40C5487A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422E2-AF27-2A5D-1F1E-ACFD1903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72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8ADFC-857A-14E3-61F7-EF7DEB41E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80401-EA1D-4E23-593B-1B1016C43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FB674-D2D3-748E-6B41-8E4741B1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991FF-69C3-25EE-66C0-AA357B51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6D483-B982-F8B1-0A0B-D13C8FB0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42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E5EF10-FC8A-4041-60F5-F744A758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B7D4C-EEBD-DCB9-FE08-66BDB7031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E8D5D-1456-EC07-C051-22563EE6B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46D5D-A984-4381-8DDA-8A6BB8E295B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8DA41-D054-ECF3-631B-D5711DD17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3D352-A4CD-5E2E-4929-CFE7FC4E4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4FAE3-5547-47AA-ADE2-C036FECF5B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79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46458-78DC-E44F-83FA-600E0E7478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663B7E-C27D-8758-7A59-B180070B5D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>
              <a:alpha val="85000"/>
            </a:srgbClr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5766A0-5161-6DFC-DFE4-16BC06DD77F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4BDDB-43C5-DB4C-E3D8-2196B6B63065}"/>
              </a:ext>
            </a:extLst>
          </p:cNvPr>
          <p:cNvSpPr txBox="1"/>
          <p:nvPr/>
        </p:nvSpPr>
        <p:spPr>
          <a:xfrm>
            <a:off x="1016000" y="2032000"/>
            <a:ext cx="1016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3800" b="1">
                <a:solidFill>
                  <a:srgbClr val="F0F0F0"/>
                </a:solidFill>
                <a:latin typeface="Segoe UI Semibold" panose="020B0702040204020203" pitchFamily="34" charset="0"/>
              </a:rPr>
              <a:t>PHEX HEV Energy Management System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70789B-B3F1-9F53-7436-EFF415A2E9F2}"/>
              </a:ext>
            </a:extLst>
          </p:cNvPr>
          <p:cNvCxnSpPr/>
          <p:nvPr/>
        </p:nvCxnSpPr>
        <p:spPr>
          <a:xfrm>
            <a:off x="1016000" y="2921000"/>
            <a:ext cx="254000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D746CA-D2AC-F3C9-1E42-5F67BCD3F9B6}"/>
              </a:ext>
            </a:extLst>
          </p:cNvPr>
          <p:cNvSpPr txBox="1"/>
          <p:nvPr/>
        </p:nvSpPr>
        <p:spPr>
          <a:xfrm>
            <a:off x="1016000" y="3111500"/>
            <a:ext cx="1016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2000">
                <a:solidFill>
                  <a:srgbClr val="3B82F6"/>
                </a:solidFill>
                <a:latin typeface="Segoe UI" panose="020B0502040204020203" pitchFamily="34" charset="0"/>
              </a:rPr>
              <a:t>AI-Assisted Supervisory Control Proof-of-Concept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5D143-B6BD-B9FF-A13C-354D946617FD}"/>
              </a:ext>
            </a:extLst>
          </p:cNvPr>
          <p:cNvSpPr txBox="1"/>
          <p:nvPr/>
        </p:nvSpPr>
        <p:spPr>
          <a:xfrm>
            <a:off x="1016000" y="3810000"/>
            <a:ext cx="10160000" cy="381000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sz="1300">
                <a:solidFill>
                  <a:srgbClr val="94A3B8"/>
                </a:solidFill>
                <a:latin typeface="Segoe UI" panose="020B0502040204020203" pitchFamily="34" charset="0"/>
              </a:rPr>
              <a:t>Technical Progress Review  |  Predictive Supervisory Controller for Hybrid Electric Vehicles</a:t>
            </a:r>
            <a:endParaRPr lang="en-IN" sz="13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A4F273-2B88-BE74-6326-58C6CC986C19}"/>
              </a:ext>
            </a:extLst>
          </p:cNvPr>
          <p:cNvSpPr/>
          <p:nvPr/>
        </p:nvSpPr>
        <p:spPr>
          <a:xfrm>
            <a:off x="762000" y="5969000"/>
            <a:ext cx="4445000" cy="4445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CA6331-7CAF-F57F-143E-EE460F77DD40}"/>
              </a:ext>
            </a:extLst>
          </p:cNvPr>
          <p:cNvSpPr txBox="1"/>
          <p:nvPr/>
        </p:nvSpPr>
        <p:spPr>
          <a:xfrm>
            <a:off x="952500" y="6032500"/>
            <a:ext cx="4064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1100">
                <a:solidFill>
                  <a:srgbClr val="94A3B8"/>
                </a:solidFill>
                <a:latin typeface="Segoe UI" panose="020B0502040204020203" pitchFamily="34" charset="0"/>
              </a:rPr>
              <a:t>Mishael Julian  |  Project PHEX Internship  |  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7257B-5A88-E8DE-0698-6CF22B08404E}"/>
              </a:ext>
            </a:extLst>
          </p:cNvPr>
          <p:cNvSpPr txBox="1"/>
          <p:nvPr/>
        </p:nvSpPr>
        <p:spPr>
          <a:xfrm>
            <a:off x="11303000" y="6477000"/>
            <a:ext cx="6985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r"/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327386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C0D969-1D3A-8EAC-F204-105DFAF222F2}"/>
              </a:ext>
            </a:extLst>
          </p:cNvPr>
          <p:cNvSpPr txBox="1"/>
          <p:nvPr/>
        </p:nvSpPr>
        <p:spPr>
          <a:xfrm>
            <a:off x="635000" y="317500"/>
            <a:ext cx="1092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sz="2800" b="1">
                <a:solidFill>
                  <a:srgbClr val="F0F0F0"/>
                </a:solidFill>
                <a:latin typeface="Segoe UI Semibold" panose="020B0702040204020203" pitchFamily="34" charset="0"/>
              </a:rPr>
              <a:t>Why Hybrid Energy Management Needs Intelligence</a:t>
            </a:r>
            <a:endParaRPr lang="en-IN" sz="2800" b="1" dirty="0">
              <a:solidFill>
                <a:srgbClr val="F0F0F0"/>
              </a:solidFill>
              <a:latin typeface="Segoe UI Semibold" panose="020B0702040204020203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3C146F-ED21-82CB-B353-FE48835DBC38}"/>
              </a:ext>
            </a:extLst>
          </p:cNvPr>
          <p:cNvCxnSpPr/>
          <p:nvPr/>
        </p:nvCxnSpPr>
        <p:spPr>
          <a:xfrm>
            <a:off x="635000" y="914400"/>
            <a:ext cx="152400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76ED3B-3978-DC0A-881A-DEF47F3C350B}"/>
              </a:ext>
            </a:extLst>
          </p:cNvPr>
          <p:cNvSpPr/>
          <p:nvPr/>
        </p:nvSpPr>
        <p:spPr>
          <a:xfrm>
            <a:off x="635000" y="1333500"/>
            <a:ext cx="5334000" cy="4699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6B27C-85F1-F940-4D13-35573C8D8A8A}"/>
              </a:ext>
            </a:extLst>
          </p:cNvPr>
          <p:cNvSpPr txBox="1"/>
          <p:nvPr/>
        </p:nvSpPr>
        <p:spPr>
          <a:xfrm>
            <a:off x="825500" y="1498600"/>
            <a:ext cx="4953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•  Hybrid vehicles constantly switch between</a:t>
            </a: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    battery and engine power sources</a:t>
            </a:r>
          </a:p>
          <a:p>
            <a:pPr>
              <a:spcAft>
                <a:spcPts val="200"/>
              </a:spcAft>
            </a:pPr>
            <a:endParaRPr lang="en-US" sz="13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•  Poor switching strategies reduce overall</a:t>
            </a: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    drivetrain efficiency by 8-15%</a:t>
            </a:r>
          </a:p>
          <a:p>
            <a:pPr>
              <a:spcAft>
                <a:spcPts val="200"/>
              </a:spcAft>
            </a:pPr>
            <a:endParaRPr lang="en-US" sz="13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•  Aggressive driving patterns cause</a:t>
            </a: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    excessive energy waste and battery stress</a:t>
            </a:r>
          </a:p>
          <a:p>
            <a:pPr>
              <a:spcAft>
                <a:spcPts val="200"/>
              </a:spcAft>
            </a:pPr>
            <a:endParaRPr lang="en-US" sz="13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•  Urban traffic creates highly dynamic</a:t>
            </a: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    and unpredictable power demands</a:t>
            </a:r>
          </a:p>
          <a:p>
            <a:pPr>
              <a:spcAft>
                <a:spcPts val="200"/>
              </a:spcAft>
            </a:pPr>
            <a:endParaRPr lang="en-US" sz="13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•  Rule-based EMS cannot anticipate</a:t>
            </a:r>
          </a:p>
          <a:p>
            <a:pPr>
              <a:spcAft>
                <a:spcPts val="200"/>
              </a:spcAft>
            </a:pPr>
            <a:r>
              <a:rPr lang="en-US" sz="1300">
                <a:solidFill>
                  <a:srgbClr val="F0F0F0"/>
                </a:solidFill>
                <a:latin typeface="Segoe UI" panose="020B0502040204020203" pitchFamily="34" charset="0"/>
              </a:rPr>
              <a:t>    future demand — only react to current state</a:t>
            </a:r>
            <a:endParaRPr lang="en-IN" sz="1300">
              <a:solidFill>
                <a:srgbClr val="F0F0F0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C244A-0895-8FE1-FCAB-0804CA1076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333500"/>
            <a:ext cx="5461000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496533-086A-14F9-DD30-D0FA94121364}"/>
              </a:ext>
            </a:extLst>
          </p:cNvPr>
          <p:cNvSpPr txBox="1"/>
          <p:nvPr/>
        </p:nvSpPr>
        <p:spPr>
          <a:xfrm>
            <a:off x="6350000" y="5207000"/>
            <a:ext cx="5461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r>
              <a:rPr lang="en-IN" sz="1000">
                <a:solidFill>
                  <a:srgbClr val="94A3B8"/>
                </a:solidFill>
                <a:latin typeface="Segoe UI" panose="020B0502040204020203" pitchFamily="34" charset="0"/>
              </a:rPr>
              <a:t>Vehicle Power Demand Distribution (kW)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16F9BE-9516-5F7A-27E5-74377356B954}"/>
              </a:ext>
            </a:extLst>
          </p:cNvPr>
          <p:cNvSpPr/>
          <p:nvPr/>
        </p:nvSpPr>
        <p:spPr>
          <a:xfrm>
            <a:off x="635000" y="6159500"/>
            <a:ext cx="10922000" cy="444500"/>
          </a:xfrm>
          <a:prstGeom prst="roundRect">
            <a:avLst>
              <a:gd name="adj" fmla="val 5000"/>
            </a:avLst>
          </a:prstGeom>
          <a:solidFill>
            <a:srgbClr val="141E32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34AB2-B2E4-E01A-8A7B-16A08F692B63}"/>
              </a:ext>
            </a:extLst>
          </p:cNvPr>
          <p:cNvSpPr txBox="1"/>
          <p:nvPr/>
        </p:nvSpPr>
        <p:spPr>
          <a:xfrm>
            <a:off x="825500" y="6223000"/>
            <a:ext cx="10541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sz="1100" b="1">
                <a:solidFill>
                  <a:srgbClr val="3B82F6"/>
                </a:solidFill>
                <a:latin typeface="Segoe UI" panose="020B0502040204020203" pitchFamily="34" charset="0"/>
              </a:rPr>
              <a:t>? Key Insight: Reactive controllers leave 8–15% efficiency on the table in urban driving</a:t>
            </a:r>
            <a:endParaRPr lang="en-IN" sz="1100" b="1">
              <a:solidFill>
                <a:srgbClr val="3B82F6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51B57-F645-FC23-A8C8-FFCB1353B294}"/>
              </a:ext>
            </a:extLst>
          </p:cNvPr>
          <p:cNvSpPr txBox="1"/>
          <p:nvPr/>
        </p:nvSpPr>
        <p:spPr>
          <a:xfrm>
            <a:off x="11303000" y="6477000"/>
            <a:ext cx="6985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r"/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02723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E6085F-A427-B96C-EA20-1937D7FAF3A2}"/>
              </a:ext>
            </a:extLst>
          </p:cNvPr>
          <p:cNvSpPr txBox="1"/>
          <p:nvPr/>
        </p:nvSpPr>
        <p:spPr>
          <a:xfrm>
            <a:off x="635000" y="317500"/>
            <a:ext cx="1092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2800" b="1">
                <a:solidFill>
                  <a:srgbClr val="F0F0F0"/>
                </a:solidFill>
                <a:latin typeface="Segoe UI Semibold" panose="020B0702040204020203" pitchFamily="34" charset="0"/>
              </a:rPr>
              <a:t>Proof-of-Concept Objective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F7AFDB-F8D5-38CB-620A-C8BF6C58606A}"/>
              </a:ext>
            </a:extLst>
          </p:cNvPr>
          <p:cNvCxnSpPr/>
          <p:nvPr/>
        </p:nvCxnSpPr>
        <p:spPr>
          <a:xfrm>
            <a:off x="635000" y="914400"/>
            <a:ext cx="152400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A3D4EB-6012-9D9E-02F5-CDBF7595F340}"/>
              </a:ext>
            </a:extLst>
          </p:cNvPr>
          <p:cNvSpPr/>
          <p:nvPr/>
        </p:nvSpPr>
        <p:spPr>
          <a:xfrm>
            <a:off x="635000" y="1333500"/>
            <a:ext cx="5588000" cy="3810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196C6-A779-D3A5-E7E5-4B248583457E}"/>
              </a:ext>
            </a:extLst>
          </p:cNvPr>
          <p:cNvSpPr txBox="1"/>
          <p:nvPr/>
        </p:nvSpPr>
        <p:spPr>
          <a:xfrm>
            <a:off x="825500" y="1460500"/>
            <a:ext cx="5207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1500" b="1">
                <a:solidFill>
                  <a:srgbClr val="3B82F6"/>
                </a:solidFill>
                <a:latin typeface="Segoe UI" panose="020B0502040204020203" pitchFamily="34" charset="0"/>
              </a:rPr>
              <a:t>Build a predictive AI supervisory controller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037B8-6E80-F7BD-239B-0F5BA94B3B6F}"/>
              </a:ext>
            </a:extLst>
          </p:cNvPr>
          <p:cNvSpPr txBox="1"/>
          <p:nvPr/>
        </p:nvSpPr>
        <p:spPr>
          <a:xfrm>
            <a:off x="889000" y="1905000"/>
            <a:ext cx="508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? Interpret real-time vehicle telemetry</a:t>
            </a: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   (speed, SOC, power, temperature)</a:t>
            </a:r>
          </a:p>
          <a:p>
            <a:endParaRPr lang="en-IN" sz="12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? Forecast near-future demand</a:t>
            </a: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   (5-second predictive horizon)</a:t>
            </a:r>
          </a:p>
          <a:p>
            <a:endParaRPr lang="en-IN" sz="12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? Select optimal HEV operating mode</a:t>
            </a: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   from 6 possible powertrain states</a:t>
            </a:r>
          </a:p>
          <a:p>
            <a:endParaRPr lang="en-IN" sz="12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? Enforce battery safety constraints</a:t>
            </a: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   (SOC limits, thermal protection)</a:t>
            </a:r>
          </a:p>
          <a:p>
            <a:endParaRPr lang="en-IN" sz="1200">
              <a:solidFill>
                <a:srgbClr val="F0F0F0"/>
              </a:solidFill>
              <a:latin typeface="Segoe UI" panose="020B0502040204020203" pitchFamily="34" charset="0"/>
            </a:endParaRP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? Adapt to urban traffic conditions</a:t>
            </a:r>
          </a:p>
          <a:p>
            <a:r>
              <a:rPr lang="en-IN" sz="1200">
                <a:solidFill>
                  <a:srgbClr val="F0F0F0"/>
                </a:solidFill>
                <a:latin typeface="Segoe UI" panose="020B0502040204020203" pitchFamily="34" charset="0"/>
              </a:rPr>
              <a:t>   (Bangalore commute scenarios)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6F388A-D1FC-2F52-158F-7C97C1FB68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333500"/>
            <a:ext cx="5207000" cy="381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3B8B6D-7A04-057F-B730-BD51A0EAEA69}"/>
              </a:ext>
            </a:extLst>
          </p:cNvPr>
          <p:cNvSpPr txBox="1"/>
          <p:nvPr/>
        </p:nvSpPr>
        <p:spPr>
          <a:xfrm>
            <a:off x="635000" y="5334000"/>
            <a:ext cx="2540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1000" b="1">
                <a:solidFill>
                  <a:srgbClr val="94A3B8"/>
                </a:solidFill>
                <a:latin typeface="Segoe UI" panose="020B0502040204020203" pitchFamily="34" charset="0"/>
              </a:rPr>
              <a:t>6 HEV Operational Modes: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880FBF-09C5-B46A-2103-17EB6369DF25}"/>
              </a:ext>
            </a:extLst>
          </p:cNvPr>
          <p:cNvSpPr/>
          <p:nvPr/>
        </p:nvSpPr>
        <p:spPr>
          <a:xfrm>
            <a:off x="635000" y="5613400"/>
            <a:ext cx="1752600" cy="330200"/>
          </a:xfrm>
          <a:prstGeom prst="roundRect">
            <a:avLst>
              <a:gd name="adj" fmla="val 5000"/>
            </a:avLst>
          </a:prstGeom>
          <a:solidFill>
            <a:srgbClr val="192028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226E2D-FB68-4F76-F3CC-DD2272B3461A}"/>
              </a:ext>
            </a:extLst>
          </p:cNvPr>
          <p:cNvSpPr/>
          <p:nvPr/>
        </p:nvSpPr>
        <p:spPr>
          <a:xfrm>
            <a:off x="635000" y="5613400"/>
            <a:ext cx="50800" cy="330200"/>
          </a:xfrm>
          <a:prstGeom prst="rect">
            <a:avLst/>
          </a:prstGeom>
          <a:solidFill>
            <a:srgbClr val="10B981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4B0C02-EF36-AF06-EAE9-325A04A86DE6}"/>
              </a:ext>
            </a:extLst>
          </p:cNvPr>
          <p:cNvSpPr txBox="1"/>
          <p:nvPr/>
        </p:nvSpPr>
        <p:spPr>
          <a:xfrm>
            <a:off x="762000" y="56388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900" b="1">
                <a:solidFill>
                  <a:srgbClr val="10B981"/>
                </a:solidFill>
                <a:latin typeface="Segoe UI" panose="020B0502040204020203" pitchFamily="34" charset="0"/>
              </a:rPr>
              <a:t>BATTERY_ONLY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C20E62-9968-F96E-A7AF-757E48BBB0A9}"/>
              </a:ext>
            </a:extLst>
          </p:cNvPr>
          <p:cNvSpPr/>
          <p:nvPr/>
        </p:nvSpPr>
        <p:spPr>
          <a:xfrm>
            <a:off x="2514600" y="5613400"/>
            <a:ext cx="1752600" cy="330200"/>
          </a:xfrm>
          <a:prstGeom prst="roundRect">
            <a:avLst>
              <a:gd name="adj" fmla="val 5000"/>
            </a:avLst>
          </a:prstGeom>
          <a:solidFill>
            <a:srgbClr val="192028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E3A1B7-ED47-2061-DA94-FEE20A9AD43A}"/>
              </a:ext>
            </a:extLst>
          </p:cNvPr>
          <p:cNvSpPr/>
          <p:nvPr/>
        </p:nvSpPr>
        <p:spPr>
          <a:xfrm>
            <a:off x="2514600" y="5613400"/>
            <a:ext cx="50800" cy="330200"/>
          </a:xfrm>
          <a:prstGeom prst="rect">
            <a:avLst/>
          </a:prstGeom>
          <a:solidFill>
            <a:srgbClr val="3B82F6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CC65FB-A785-83A3-A37B-A4A631DF4223}"/>
              </a:ext>
            </a:extLst>
          </p:cNvPr>
          <p:cNvSpPr txBox="1"/>
          <p:nvPr/>
        </p:nvSpPr>
        <p:spPr>
          <a:xfrm>
            <a:off x="2641600" y="56388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900" b="1">
                <a:solidFill>
                  <a:srgbClr val="3B82F6"/>
                </a:solidFill>
                <a:latin typeface="Segoe UI" panose="020B0502040204020203" pitchFamily="34" charset="0"/>
              </a:rPr>
              <a:t>ENGINE_ONLY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94C1DE-6A7E-99A8-94CE-B8CEA110493C}"/>
              </a:ext>
            </a:extLst>
          </p:cNvPr>
          <p:cNvSpPr/>
          <p:nvPr/>
        </p:nvSpPr>
        <p:spPr>
          <a:xfrm>
            <a:off x="4394200" y="5613400"/>
            <a:ext cx="1752600" cy="330200"/>
          </a:xfrm>
          <a:prstGeom prst="roundRect">
            <a:avLst>
              <a:gd name="adj" fmla="val 5000"/>
            </a:avLst>
          </a:prstGeom>
          <a:solidFill>
            <a:srgbClr val="192028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423A1A-EF6E-C585-E1A2-96E94D4D5AB8}"/>
              </a:ext>
            </a:extLst>
          </p:cNvPr>
          <p:cNvSpPr/>
          <p:nvPr/>
        </p:nvSpPr>
        <p:spPr>
          <a:xfrm>
            <a:off x="4394200" y="5613400"/>
            <a:ext cx="50800" cy="330200"/>
          </a:xfrm>
          <a:prstGeom prst="rect">
            <a:avLst/>
          </a:prstGeom>
          <a:solidFill>
            <a:srgbClr val="EF4444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1226EC-BF95-F93F-2368-D94287948F51}"/>
              </a:ext>
            </a:extLst>
          </p:cNvPr>
          <p:cNvSpPr txBox="1"/>
          <p:nvPr/>
        </p:nvSpPr>
        <p:spPr>
          <a:xfrm>
            <a:off x="4521200" y="56388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900" b="1">
                <a:solidFill>
                  <a:srgbClr val="EF4444"/>
                </a:solidFill>
                <a:latin typeface="Segoe UI" panose="020B0502040204020203" pitchFamily="34" charset="0"/>
              </a:rPr>
              <a:t>HYBRID_ASSIST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0174F71-0705-CB5C-90DF-D3314AC89848}"/>
              </a:ext>
            </a:extLst>
          </p:cNvPr>
          <p:cNvSpPr/>
          <p:nvPr/>
        </p:nvSpPr>
        <p:spPr>
          <a:xfrm>
            <a:off x="6273800" y="5613400"/>
            <a:ext cx="1752600" cy="330200"/>
          </a:xfrm>
          <a:prstGeom prst="roundRect">
            <a:avLst>
              <a:gd name="adj" fmla="val 5000"/>
            </a:avLst>
          </a:prstGeom>
          <a:solidFill>
            <a:srgbClr val="192028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D69912-4BAF-C346-B79D-84AC6339BEF5}"/>
              </a:ext>
            </a:extLst>
          </p:cNvPr>
          <p:cNvSpPr/>
          <p:nvPr/>
        </p:nvSpPr>
        <p:spPr>
          <a:xfrm>
            <a:off x="6273800" y="5613400"/>
            <a:ext cx="50800" cy="330200"/>
          </a:xfrm>
          <a:prstGeom prst="rect">
            <a:avLst/>
          </a:prstGeom>
          <a:solidFill>
            <a:srgbClr val="F59E0B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1CE91F-F283-9B61-471C-7615E72EFD30}"/>
              </a:ext>
            </a:extLst>
          </p:cNvPr>
          <p:cNvSpPr txBox="1"/>
          <p:nvPr/>
        </p:nvSpPr>
        <p:spPr>
          <a:xfrm>
            <a:off x="6400800" y="56388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900" b="1">
                <a:solidFill>
                  <a:srgbClr val="F59E0B"/>
                </a:solidFill>
                <a:latin typeface="Segoe UI" panose="020B0502040204020203" pitchFamily="34" charset="0"/>
              </a:rPr>
              <a:t>ENGINE_CHARGE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8C9DE0-F640-4F47-E231-2723D27CE5E0}"/>
              </a:ext>
            </a:extLst>
          </p:cNvPr>
          <p:cNvSpPr/>
          <p:nvPr/>
        </p:nvSpPr>
        <p:spPr>
          <a:xfrm>
            <a:off x="8153400" y="5613400"/>
            <a:ext cx="1752600" cy="330200"/>
          </a:xfrm>
          <a:prstGeom prst="roundRect">
            <a:avLst>
              <a:gd name="adj" fmla="val 5000"/>
            </a:avLst>
          </a:prstGeom>
          <a:solidFill>
            <a:srgbClr val="192028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0383C-7C8F-2010-9CEF-C45D4E563E19}"/>
              </a:ext>
            </a:extLst>
          </p:cNvPr>
          <p:cNvSpPr/>
          <p:nvPr/>
        </p:nvSpPr>
        <p:spPr>
          <a:xfrm>
            <a:off x="8153400" y="5613400"/>
            <a:ext cx="50800" cy="330200"/>
          </a:xfrm>
          <a:prstGeom prst="rect">
            <a:avLst/>
          </a:prstGeom>
          <a:solidFill>
            <a:srgbClr val="06B6D4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DA10D6-685B-B658-32F2-5C46765863C7}"/>
              </a:ext>
            </a:extLst>
          </p:cNvPr>
          <p:cNvSpPr txBox="1"/>
          <p:nvPr/>
        </p:nvSpPr>
        <p:spPr>
          <a:xfrm>
            <a:off x="8280400" y="56388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900" b="1">
                <a:solidFill>
                  <a:srgbClr val="06B6D4"/>
                </a:solidFill>
                <a:latin typeface="Segoe UI" panose="020B0502040204020203" pitchFamily="34" charset="0"/>
              </a:rPr>
              <a:t>REGEN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C1767E-4B24-18EB-2484-322B50119095}"/>
              </a:ext>
            </a:extLst>
          </p:cNvPr>
          <p:cNvSpPr/>
          <p:nvPr/>
        </p:nvSpPr>
        <p:spPr>
          <a:xfrm>
            <a:off x="10033000" y="5613400"/>
            <a:ext cx="1752600" cy="330200"/>
          </a:xfrm>
          <a:prstGeom prst="roundRect">
            <a:avLst>
              <a:gd name="adj" fmla="val 5000"/>
            </a:avLst>
          </a:prstGeom>
          <a:solidFill>
            <a:srgbClr val="192028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02212E-8F28-8202-6FE6-CC15DCCE08FE}"/>
              </a:ext>
            </a:extLst>
          </p:cNvPr>
          <p:cNvSpPr/>
          <p:nvPr/>
        </p:nvSpPr>
        <p:spPr>
          <a:xfrm>
            <a:off x="10033000" y="5613400"/>
            <a:ext cx="50800" cy="330200"/>
          </a:xfrm>
          <a:prstGeom prst="rect">
            <a:avLst/>
          </a:prstGeom>
          <a:solidFill>
            <a:srgbClr val="6B7280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D535E8-0C19-CB01-40A9-B9165EE0AA01}"/>
              </a:ext>
            </a:extLst>
          </p:cNvPr>
          <p:cNvSpPr txBox="1"/>
          <p:nvPr/>
        </p:nvSpPr>
        <p:spPr>
          <a:xfrm>
            <a:off x="10160000" y="5638800"/>
            <a:ext cx="15748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900" b="1">
                <a:solidFill>
                  <a:srgbClr val="6B7280"/>
                </a:solidFill>
                <a:latin typeface="Segoe UI" panose="020B0502040204020203" pitchFamily="34" charset="0"/>
              </a:rPr>
              <a:t>IDLE_STOP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0351E3-493B-ECD6-A6F4-1B858A7A25E9}"/>
              </a:ext>
            </a:extLst>
          </p:cNvPr>
          <p:cNvSpPr txBox="1"/>
          <p:nvPr/>
        </p:nvSpPr>
        <p:spPr>
          <a:xfrm>
            <a:off x="11303000" y="6477000"/>
            <a:ext cx="6985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r"/>
            <a:r>
              <a:rPr lang="en-IN" sz="900">
                <a:solidFill>
                  <a:srgbClr val="94A3B8"/>
                </a:solidFill>
                <a:latin typeface="Segoe UI" panose="020B0502040204020203" pitchFamily="34" charset="0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2162244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88EF0F-C7C9-37D6-C891-E8962C37C8B2}"/>
              </a:ext>
            </a:extLst>
          </p:cNvPr>
          <p:cNvSpPr txBox="1"/>
          <p:nvPr/>
        </p:nvSpPr>
        <p:spPr>
          <a:xfrm>
            <a:off x="635000" y="317500"/>
            <a:ext cx="10922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IN" sz="2800" b="1">
                <a:solidFill>
                  <a:srgbClr val="F0F0F0"/>
                </a:solidFill>
                <a:latin typeface="Segoe UI Semibold" panose="020B0702040204020203" pitchFamily="34" charset="0"/>
              </a:rPr>
              <a:t>System Architecture Overview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34BD48-A7D9-A998-2382-6925C29F52FF}"/>
              </a:ext>
            </a:extLst>
          </p:cNvPr>
          <p:cNvCxnSpPr/>
          <p:nvPr/>
        </p:nvCxnSpPr>
        <p:spPr>
          <a:xfrm>
            <a:off x="635000" y="914400"/>
            <a:ext cx="152400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97D4D36-600F-6352-BC7C-25A4EA26F5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143000"/>
            <a:ext cx="11430000" cy="4826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1F585C-E93E-C723-6A7E-0057E23D7A10}"/>
              </a:ext>
            </a:extLst>
          </p:cNvPr>
          <p:cNvSpPr/>
          <p:nvPr/>
        </p:nvSpPr>
        <p:spPr>
          <a:xfrm>
            <a:off x="635000" y="6032500"/>
            <a:ext cx="10922000" cy="533400"/>
          </a:xfrm>
          <a:prstGeom prst="roundRect">
            <a:avLst>
              <a:gd name="adj" fmla="val 5000"/>
            </a:avLst>
          </a:prstGeom>
          <a:solidFill>
            <a:srgbClr val="141C26"/>
          </a:solidFill>
          <a:ln w="15875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602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391</Words>
  <Application>Microsoft Office PowerPoint</Application>
  <PresentationFormat>Custom</PresentationFormat>
  <Paragraphs>58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Mishael Julian</dc:creator>
  <cp:lastModifiedBy>Mishael Julian</cp:lastModifiedBy>
  <cp:revision>3</cp:revision>
  <dcterms:created xsi:type="dcterms:W3CDTF">2026-05-27T12:58:42Z</dcterms:created>
  <dcterms:modified xsi:type="dcterms:W3CDTF">2026-05-27T13:26:07Z</dcterms:modified>
</cp:coreProperties>
</file>