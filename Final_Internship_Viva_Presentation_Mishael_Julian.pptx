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333" r:id="rId4"/>
    <p:sldId id="280" r:id="rId5"/>
    <p:sldId id="270" r:id="rId6"/>
    <p:sldId id="364" r:id="rId7"/>
    <p:sldId id="365" r:id="rId8"/>
    <p:sldId id="362" r:id="rId9"/>
    <p:sldId id="287" r:id="rId10"/>
    <p:sldId id="366" r:id="rId11"/>
    <p:sldId id="334" r:id="rId12"/>
    <p:sldId id="330" r:id="rId13"/>
    <p:sldId id="370" r:id="rId14"/>
    <p:sldId id="371" r:id="rId15"/>
    <p:sldId id="353" r:id="rId16"/>
    <p:sldId id="367" r:id="rId17"/>
    <p:sldId id="360" r:id="rId18"/>
    <p:sldId id="260" r:id="rId19"/>
  </p:sldIdLst>
  <p:sldSz cx="9144000" cy="6858000" type="screen4x3"/>
  <p:notesSz cx="6858000" cy="9144000"/>
  <p:embeddedFontLst>
    <p:embeddedFont>
      <p:font typeface="Archivo Narrow" panose="020B0604020202020204" charset="0"/>
      <p:regular r:id="rId21"/>
      <p:bold r:id="rId22"/>
      <p:italic r:id="rId23"/>
      <p:boldItalic r:id="rId24"/>
    </p:embeddedFont>
    <p:embeddedFont>
      <p:font typeface="Georgia" panose="02040502050405020303" pitchFamily="18"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53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0" autoAdjust="0"/>
    <p:restoredTop sz="93732" autoAdjust="0"/>
  </p:normalViewPr>
  <p:slideViewPr>
    <p:cSldViewPr snapToGrid="0">
      <p:cViewPr varScale="1">
        <p:scale>
          <a:sx n="83" d="100"/>
          <a:sy n="83" d="100"/>
        </p:scale>
        <p:origin x="1416" y="72"/>
      </p:cViewPr>
      <p:guideLst>
        <p:guide orient="horz" pos="2160"/>
        <p:guide pos="2880"/>
      </p:guideLst>
    </p:cSldViewPr>
  </p:slideViewPr>
  <p:notesTextViewPr>
    <p:cViewPr>
      <p:scale>
        <a:sx n="1" d="1"/>
        <a:sy n="1" d="1"/>
      </p:scale>
      <p:origin x="0" y="0"/>
    </p:cViewPr>
  </p:notesTextViewPr>
  <p:sorterViewPr>
    <p:cViewPr>
      <p:scale>
        <a:sx n="100" d="100"/>
        <a:sy n="100" d="100"/>
      </p:scale>
      <p:origin x="0" y="-13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hael Julian" userId="9deeb756e411964c" providerId="LiveId" clId="{B9A5FECB-1042-4CBE-B163-58C565DFD1D6}"/>
    <pc:docChg chg="modSld">
      <pc:chgData name="Mishael Julian" userId="9deeb756e411964c" providerId="LiveId" clId="{B9A5FECB-1042-4CBE-B163-58C565DFD1D6}" dt="2026-09-04T06:35:13.383" v="6" actId="1076"/>
      <pc:docMkLst>
        <pc:docMk/>
      </pc:docMkLst>
      <pc:sldChg chg="modSp mod">
        <pc:chgData name="Mishael Julian" userId="9deeb756e411964c" providerId="LiveId" clId="{B9A5FECB-1042-4CBE-B163-58C565DFD1D6}" dt="2026-09-03T18:25:29.085" v="1" actId="2711"/>
        <pc:sldMkLst>
          <pc:docMk/>
          <pc:sldMk cId="0" sldId="256"/>
        </pc:sldMkLst>
        <pc:spChg chg="mod">
          <ac:chgData name="Mishael Julian" userId="9deeb756e411964c" providerId="LiveId" clId="{B9A5FECB-1042-4CBE-B163-58C565DFD1D6}" dt="2026-09-03T18:25:19.450" v="0" actId="2711"/>
          <ac:spMkLst>
            <pc:docMk/>
            <pc:sldMk cId="0" sldId="256"/>
            <ac:spMk id="111" creationId="{00000000-0000-0000-0000-000000000000}"/>
          </ac:spMkLst>
        </pc:spChg>
        <pc:spChg chg="mod">
          <ac:chgData name="Mishael Julian" userId="9deeb756e411964c" providerId="LiveId" clId="{B9A5FECB-1042-4CBE-B163-58C565DFD1D6}" dt="2026-09-03T18:25:29.085" v="1" actId="2711"/>
          <ac:spMkLst>
            <pc:docMk/>
            <pc:sldMk cId="0" sldId="256"/>
            <ac:spMk id="112" creationId="{00000000-0000-0000-0000-000000000000}"/>
          </ac:spMkLst>
        </pc:spChg>
      </pc:sldChg>
      <pc:sldChg chg="modSp mod">
        <pc:chgData name="Mishael Julian" userId="9deeb756e411964c" providerId="LiveId" clId="{B9A5FECB-1042-4CBE-B163-58C565DFD1D6}" dt="2026-09-04T06:33:51.566" v="4" actId="1036"/>
        <pc:sldMkLst>
          <pc:docMk/>
          <pc:sldMk cId="1628147693" sldId="330"/>
        </pc:sldMkLst>
        <pc:picChg chg="mod">
          <ac:chgData name="Mishael Julian" userId="9deeb756e411964c" providerId="LiveId" clId="{B9A5FECB-1042-4CBE-B163-58C565DFD1D6}" dt="2026-09-04T06:33:51.566" v="4" actId="1036"/>
          <ac:picMkLst>
            <pc:docMk/>
            <pc:sldMk cId="1628147693" sldId="330"/>
            <ac:picMk id="4" creationId="{00000000-0000-0000-0000-000000000000}"/>
          </ac:picMkLst>
        </pc:picChg>
      </pc:sldChg>
      <pc:sldChg chg="modSp mod">
        <pc:chgData name="Mishael Julian" userId="9deeb756e411964c" providerId="LiveId" clId="{B9A5FECB-1042-4CBE-B163-58C565DFD1D6}" dt="2026-09-04T06:33:09.888" v="2" actId="1036"/>
        <pc:sldMkLst>
          <pc:docMk/>
          <pc:sldMk cId="1980110965" sldId="334"/>
        </pc:sldMkLst>
        <pc:picChg chg="mod">
          <ac:chgData name="Mishael Julian" userId="9deeb756e411964c" providerId="LiveId" clId="{B9A5FECB-1042-4CBE-B163-58C565DFD1D6}" dt="2026-09-04T06:33:09.888" v="2" actId="1036"/>
          <ac:picMkLst>
            <pc:docMk/>
            <pc:sldMk cId="1980110965" sldId="334"/>
            <ac:picMk id="4" creationId="{00000000-0000-0000-0000-000000000000}"/>
          </ac:picMkLst>
        </pc:picChg>
      </pc:sldChg>
      <pc:sldChg chg="modSp mod">
        <pc:chgData name="Mishael Julian" userId="9deeb756e411964c" providerId="LiveId" clId="{B9A5FECB-1042-4CBE-B163-58C565DFD1D6}" dt="2026-09-04T06:34:40.363" v="5" actId="1036"/>
        <pc:sldMkLst>
          <pc:docMk/>
          <pc:sldMk cId="980810962" sldId="370"/>
        </pc:sldMkLst>
        <pc:picChg chg="mod">
          <ac:chgData name="Mishael Julian" userId="9deeb756e411964c" providerId="LiveId" clId="{B9A5FECB-1042-4CBE-B163-58C565DFD1D6}" dt="2026-09-04T06:34:40.363" v="5" actId="1036"/>
          <ac:picMkLst>
            <pc:docMk/>
            <pc:sldMk cId="980810962" sldId="370"/>
            <ac:picMk id="4" creationId="{00000000-0000-0000-0000-000000000000}"/>
          </ac:picMkLst>
        </pc:picChg>
      </pc:sldChg>
      <pc:sldChg chg="modSp mod">
        <pc:chgData name="Mishael Julian" userId="9deeb756e411964c" providerId="LiveId" clId="{B9A5FECB-1042-4CBE-B163-58C565DFD1D6}" dt="2026-09-04T06:35:13.383" v="6" actId="1076"/>
        <pc:sldMkLst>
          <pc:docMk/>
          <pc:sldMk cId="2024651295" sldId="371"/>
        </pc:sldMkLst>
        <pc:spChg chg="mod">
          <ac:chgData name="Mishael Julian" userId="9deeb756e411964c" providerId="LiveId" clId="{B9A5FECB-1042-4CBE-B163-58C565DFD1D6}" dt="2026-09-04T06:35:13.383" v="6" actId="1076"/>
          <ac:spMkLst>
            <pc:docMk/>
            <pc:sldMk cId="2024651295" sldId="371"/>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Shape 1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9" name="Shape 10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1. WHAT THIS SLIDE SHOWS: Title slide for B.Tech Internship Viva on AI-assisted Predictive Energy Management for Hybrid Electric Powertrains.</a:t>
            </a:r>
          </a:p>
          <a:p>
            <a:r>
              <a:t>2. MY CONTRIBUTION: Developed predictive demand forecasting models, data pipelines, hybrid decision engine, and simulation validation.</a:t>
            </a:r>
          </a:p>
          <a:p>
            <a:r>
              <a:t>3. 30s EXPLANATION: Good morning respected examiners. I am Mishael Julian, presenting my internship work on developing an AI and Edge-enabled Predictive Energy Management System for Hybrid Electric Vehicles under Project PHEX '27, guided by Dr. Sujatha A K.</a:t>
            </a:r>
          </a:p>
          <a:p>
            <a:r>
              <a:t>4. LIKELY VIVA QUESTION: What is the main motivation behind Project PHEX '27?</a:t>
            </a:r>
          </a:p>
          <a:p>
            <a:r>
              <a:t>5. CONCISE ANSWER: Conventional HEV controllers are reactive; our goal was to investigate a Proof-of-Concept predictive EMS that forecasts future speed, acceleration, and power demand to support optimal power-split decisions between engine, motor, and battery.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Shape 11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5" name="Shape 115"/>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1. WHAT THIS SLIDE SHOWS: Presentation roadmap covering context, literature, objectives, architecture, technical methodology, results, and future work.</a:t>
            </a:r>
          </a:p>
          <a:p>
            <a:r>
              <a:t>2. MY CONTRIBUTION: Structured the presentation to highlight predictive EMS modeling and empirical simulation validation.</a:t>
            </a:r>
          </a:p>
          <a:p>
            <a:r>
              <a:t>3. 20s EXPLANATION: The presentation follows a standard academic structure starting with HEV context and literature review, leading into my core technical work on demand forecasting and hybrid mode selection, followed by simulation KPIs and conclusion.</a:t>
            </a:r>
          </a:p>
          <a:p>
            <a:r>
              <a:t>4. LIKELY VIVA QUESTION: How is your presentation organized regarding individual vs team work?</a:t>
            </a:r>
          </a:p>
          <a:p>
            <a:r>
              <a:t>5. CONCISE ANSWER: The system-level architecture and powertrain models represent the broader PHEX '27 project, while the predictive ML forecasting, feature engineering, hybrid decision engine, and KPI benchmarking represent my specific assigned contribution.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 WHAT THIS SLIDE SHOWS: Foundational background of HEV energy management and the transition from reactive to predictive supervisory control.</a:t>
            </a:r>
          </a:p>
          <a:p>
            <a:r>
              <a:t>2. MY CONTRIBUTION: Focused on formulating the predictive intelligence layer that informs supervisory power-split decisions.</a:t>
            </a:r>
          </a:p>
          <a:p>
            <a:r>
              <a:t>3. 30s EXPLANATION: HEVs require an intelligent EMS to decide when to drive on battery, when to start the engine, and when to recuperate brake energy. Standard controllers only react to current speed. Our project explores how predictive ML can look ahead to optimize battery state-of-charge and fuel economy.</a:t>
            </a:r>
          </a:p>
          <a:p>
            <a:r>
              <a:t>4. LIKELY VIVA QUESTION: Why not use a purely machine learning model instead of a supervisory EMS?</a:t>
            </a:r>
          </a:p>
          <a:p>
            <a:r>
              <a:t>5. CONCISE ANSWER: Pure ML models lack deterministic safety guarantees in automotive systems. A hybrid supervisory structure uses ML for advisory prediction while maintaining deterministic safety override rules for battery protection and thermal limits.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1" name="Shape 12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1. WHAT THIS SLIDE SHOWS: The three foundational research domains explored during the literature review.</a:t>
            </a:r>
          </a:p>
          <a:p>
            <a:r>
              <a:t>2. MY CONTRIBUTION: Synthesized automotive supervisory control theory with data-driven predictive modeling.</a:t>
            </a:r>
          </a:p>
          <a:p>
            <a:r>
              <a:t>3. 25s EXPLANATION: We categorized our literature survey into three distinct pillars: HEV control architectures, time-series machine learning regressors for telemetry forecasting, and context-aware route planning methods.</a:t>
            </a:r>
          </a:p>
          <a:p>
            <a:r>
              <a:t>4. LIKELY VIVA QUESTION: Why are global optimization techniques like Dynamic Programming not used directly in real-time vehicles?</a:t>
            </a:r>
          </a:p>
          <a:p>
            <a:r>
              <a:t>5. CONCISE ANSWER: Dynamic Programming requires complete a-priori knowledge of the entire future drive cycle and is computationally too intensive for real-time onboard ECUs. ML forecasting provides a causal, real-time approximation.</a:t>
            </a:r>
          </a:p>
        </p:txBody>
      </p:sp>
    </p:spTree>
    <p:extLst>
      <p:ext uri="{BB962C8B-B14F-4D97-AF65-F5344CB8AC3E}">
        <p14:creationId xmlns:p14="http://schemas.microsoft.com/office/powerpoint/2010/main" val="3957826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1" name="Shape 12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1. WHAT THIS SLIDE SHOWS: Summary of seminal paper by Sciarretta &amp; Guzzella on HEV control fundamentals.</a:t>
            </a:r>
          </a:p>
          <a:p>
            <a:r>
              <a:t>2. MY CONTRIBUTION: Extracted HEV power-split boundaries and rule formulations to serve as the baseline rule engine.</a:t>
            </a:r>
          </a:p>
          <a:p>
            <a:r>
              <a:t>3. 25s EXPLANATION: Sciarretta and Guzzella established the benchmark for supervisory control. We adopted their formulation of powertrain operating modes and energy-balance equations while identifying the critical gap: the lack of predictive look-ahead demand.</a:t>
            </a:r>
          </a:p>
          <a:p>
            <a:r>
              <a:t>4. LIKELY VIVA QUESTION: What did you inherit from this specific paper?</a:t>
            </a:r>
          </a:p>
          <a:p>
            <a:r>
              <a:t>5. CONCISE ANSWER: We inherited the supervisory power-balance logic, engine efficiency operating regions, and the baseline deterministic rule-based control hierarchy.</a:t>
            </a:r>
          </a:p>
        </p:txBody>
      </p:sp>
    </p:spTree>
    <p:extLst>
      <p:ext uri="{BB962C8B-B14F-4D97-AF65-F5344CB8AC3E}">
        <p14:creationId xmlns:p14="http://schemas.microsoft.com/office/powerpoint/2010/main" val="2154370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1" name="Shape 12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1. WHAT THIS SLIDE SHOWS: Review of C. C. Chan's IEEE overview on hybrid powertrain architectures.</a:t>
            </a:r>
          </a:p>
          <a:p>
            <a:r>
              <a:t>2. MY CONTRIBUTION: Used powertrain specifications and regenerative constraints to define simulation boundaries.</a:t>
            </a:r>
          </a:p>
          <a:p>
            <a:r>
              <a:t>3. 20s EXPLANATION: Prof. Chan's work provided the foundational architecture for parallel hybrid vehicle systems, electric motor torque characteristics, and battery operating boundaries (specifically the 20% critical SOC threshold).</a:t>
            </a:r>
          </a:p>
          <a:p>
            <a:r>
              <a:t>4. LIKELY VIVA QUESTION: Why is maintaining a 20% SOC floor critical in hybrid vehicles?</a:t>
            </a:r>
          </a:p>
          <a:p>
            <a:r>
              <a:t>5. CONCISE ANSWER: Deep discharge below 20% severely accelerates battery capacity degradation and prevents the electric motor from delivering critical transient torque assistance.</a:t>
            </a:r>
          </a:p>
        </p:txBody>
      </p:sp>
    </p:spTree>
    <p:extLst>
      <p:ext uri="{BB962C8B-B14F-4D97-AF65-F5344CB8AC3E}">
        <p14:creationId xmlns:p14="http://schemas.microsoft.com/office/powerpoint/2010/main" val="1546608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1" name="Shape 12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1. WHAT THIS SLIDE SHOWS: Literature review on Random Forests as the regression backbone for vehicle demand prediction.</a:t>
            </a:r>
          </a:p>
          <a:p>
            <a:r>
              <a:t>2. MY CONTRIBUTION: Designed the rolling-window lag feature pipeline enabling Random Forest to perform robust time-series forecasting.</a:t>
            </a:r>
          </a:p>
          <a:p>
            <a:r>
              <a:t>3. 25s EXPLANATION: Breiman's Random Forest algorithm was selected due to its robustness against noise, high non-linear representational capacity, and resistance to overfitting. We augmented it with domain-specific lag features (t-1, t-2, t-3) for automotive time-series forecasting.</a:t>
            </a:r>
          </a:p>
          <a:p>
            <a:r>
              <a:t>4. LIKELY VIVA QUESTION: Why did you choose Random Forest over Deep Neural Networks like LSTMs?</a:t>
            </a:r>
          </a:p>
          <a:p>
            <a:r>
              <a:t>5. CONCISE ANSWER: Random Forests offer fast inference times, low computational footprint suitable for eventual edge microcontroller deployment, and strong performance without requiring huge training datasets or GPU acceleration.</a:t>
            </a:r>
          </a:p>
        </p:txBody>
      </p:sp>
    </p:spTree>
    <p:extLst>
      <p:ext uri="{BB962C8B-B14F-4D97-AF65-F5344CB8AC3E}">
        <p14:creationId xmlns:p14="http://schemas.microsoft.com/office/powerpoint/2010/main" val="2695458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1" name="Shape 12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1. WHAT THIS SLIDE SHOWS: Literature review on safety-critical machine learning systems and asset management.</a:t>
            </a:r>
          </a:p>
          <a:p>
            <a:r>
              <a:t>2. MY CONTRIBUTION: Formulated the fail-safe Hybrid Decision Engine combining predictive ML recommendations with deterministic safety limits.</a:t>
            </a:r>
          </a:p>
          <a:p>
            <a:r>
              <a:t>3. 25s EXPLANATION: This paper demonstrates how machine learning can be paired with hard protective thresholds in electrical systems. We adapted this concept to automotive EMS, ensuring ML recommendations are always validated against battery temperature and SOC safety guards.</a:t>
            </a:r>
          </a:p>
          <a:p>
            <a:r>
              <a:t>4. LIKELY VIVA QUESTION: What happens if the ML model makes an erroneous prediction?</a:t>
            </a:r>
          </a:p>
          <a:p>
            <a:r>
              <a:t>5. CONCISE ANSWER: The deterministic safety layer continuously monitors physical boundaries (e.g. SOC &lt; 20% or Temp &gt; 45°C) and instantly overrides the ML recommendation with a safe rule-based action (e.g., forced ICE charge).</a:t>
            </a:r>
          </a:p>
        </p:txBody>
      </p:sp>
    </p:spTree>
    <p:extLst>
      <p:ext uri="{BB962C8B-B14F-4D97-AF65-F5344CB8AC3E}">
        <p14:creationId xmlns:p14="http://schemas.microsoft.com/office/powerpoint/2010/main" val="2845368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 WHAT THIS SLIDE SHOWS: Clear, non-hallucinated project objectives aligned exactly with the final internship report.</a:t>
            </a:r>
          </a:p>
          <a:p>
            <a:r>
              <a:t>2. MY CONTRIBUTION: Spearheaded Objectives 2, 3, 4, and 5 (Data Pipeline, Demand Forecasting, Hybrid Decision Engine, and Drive-Cycle KPI evaluation).</a:t>
            </a:r>
          </a:p>
          <a:p>
            <a:r>
              <a:t>3. 30s EXPLANATION: Our primary objective was to build and validate a simulation-based Proof-of-Concept predictive EMS. I developed the preprocessing pipeline, built the Random Forest demand forecasters, integrated the hybrid decision logic, and evaluated the system against standard drive cycles.</a:t>
            </a:r>
          </a:p>
          <a:p>
            <a:r>
              <a:t>4. LIKELY VIVA QUESTION: Which drive cycles did you use for simulation validation?</a:t>
            </a:r>
          </a:p>
          <a:p>
            <a:r>
              <a:t>5. CONCISE ANSWER: We validated the EMS on representative drive cycles including WLTP Urban, WLTP Mixed, and the Bangalore Urban Driving Cycle to test real-world stop-and-go conditions.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 WHAT THIS SLIDE SHOWS: Figure 2.1 from the Final Report showing the Project PHEX '27 Supervisory EMS Architecture and Data Flow.</a:t>
            </a:r>
          </a:p>
          <a:p>
            <a:r>
              <a:t>2. MY CONTRIBUTION: Developed the highlighted Predictive Layer (Demand Forecaster), Feature Pipeline, and Hybrid Decision Engine.</a:t>
            </a:r>
          </a:p>
          <a:p>
            <a:r>
              <a:t>3. 35s EXPLANATION: This diagram illustrates the complete EMS data flow. The vehicle state and route telemetry feed into the preprocessing buffer. My demand forecaster estimates future speed and power demand. These predictions pass to the Hybrid Decision Engine, which evaluates mode selection alongside safety checks before commanding the powertrain.</a:t>
            </a:r>
          </a:p>
          <a:p>
            <a:r>
              <a:t>4. LIKELY VIVA QUESTION: How does the system ensure safety if the predictive model fails?</a:t>
            </a:r>
          </a:p>
          <a:p>
            <a:r>
              <a:t>5. CONCISE ANSWER: Safety override rules sit directly between the decision engine and powertrain actuation. If the battery SOC drops below 20% or battery temperature exceeds 45°C, hard deterministic rules override the ML model.</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sp>
      <p:sp>
        <p:nvSpPr>
          <p:cNvPr id="3" name="Notes Placeholder 2"/>
          <p:cNvSpPr>
            <a:spLocks noGrp="1"/>
          </p:cNvSpPr>
          <p:nvPr>
            <p:ph type="body" idx="1"/>
          </p:nvPr>
        </p:nvSpPr>
        <p:spPr/>
        <p:txBody>
          <a:bodyPr/>
          <a:lstStyle/>
          <a:p>
            <a:r>
              <a:t>1. WHAT THIS SLIDE SHOWS: Technical methodology including preprocessing pipeline, tractive physics equations, and the supervisory mode selection algorithm.</a:t>
            </a:r>
          </a:p>
          <a:p>
            <a:r>
              <a:t>2. MY CONTRIBUTION: Implemented the preprocessing routines, lag feature generation, Random Forest training scripts, and decision engine integration in Python.</a:t>
            </a:r>
          </a:p>
          <a:p>
            <a:r>
              <a:t>3. 35s EXPLANATION: Our methodology relies on physics-informed feature engineering. We calculate tractive forces incorporating rolling resistance and aerodynamic drag. Historical telemetry is structured into rolling lag windows. The Random Forest models predict upcoming demand, which is evaluated by our rule-based supervisory algorithm.</a:t>
            </a:r>
          </a:p>
          <a:p>
            <a:r>
              <a:t>4. LIKELY VIVA QUESTION: Why did you use trip-level partitioning instead of random k-fold cross validation?</a:t>
            </a:r>
          </a:p>
          <a:p>
            <a:r>
              <a:t>5. CONCISE ANSWER: In time-series telemetry, random k-fold cross-validation causes temporal data leakage because consecutive rows share identical rolling lag information. Trip-level partitioning ensures entire independent trips are held out for testing.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sp>
      <p:sp>
        <p:nvSpPr>
          <p:cNvPr id="3" name="Notes Placeholder 2"/>
          <p:cNvSpPr>
            <a:spLocks noGrp="1"/>
          </p:cNvSpPr>
          <p:nvPr>
            <p:ph type="body" idx="1"/>
          </p:nvPr>
        </p:nvSpPr>
        <p:spPr/>
        <p:txBody>
          <a:bodyPr/>
          <a:lstStyle/>
          <a:p>
            <a:r>
              <a:t>1. WHAT THIS SLIDE SHOWS: Empirical benchmarking results for the Random Forest Demand Forecasters and prediction confidence distribution.</a:t>
            </a:r>
          </a:p>
          <a:p>
            <a:r>
              <a:t>2. MY CONTRIBUTION: Trained, tuned, and evaluated the three regression models and performed confidence analysis.</a:t>
            </a:r>
          </a:p>
          <a:p>
            <a:r>
              <a:t>3. 30s EXPLANATION: As shown, the Speed forecaster achieved an R² of 0.941 with a low MAE of 1.18 km/h, while Power Demand achieved an R² of 0.912. Furthermore, confidence distribution analysis showed that the vast majority of predictions exceeded 0.90 confidence.</a:t>
            </a:r>
          </a:p>
          <a:p>
            <a:r>
              <a:t>4. LIKELY VIVA QUESTION: How do you differentiate between prediction confidence and prediction accuracy?</a:t>
            </a:r>
          </a:p>
          <a:p>
            <a:r>
              <a:t>5. CONCISE ANSWER: Accuracy (or R²) measures the mathematical agreement between predicted values and actual ground truth, whereas Confidence measures the certainty of the model's output distribution. High confidence indicates low decision entropy.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sp>
      <p:sp>
        <p:nvSpPr>
          <p:cNvPr id="3" name="Notes Placeholder 2"/>
          <p:cNvSpPr>
            <a:spLocks noGrp="1"/>
          </p:cNvSpPr>
          <p:nvPr>
            <p:ph type="body" idx="1"/>
          </p:nvPr>
        </p:nvSpPr>
        <p:spPr/>
        <p:txBody>
          <a:bodyPr/>
          <a:lstStyle/>
          <a:p>
            <a:r>
              <a:t>1. WHAT THIS SLIDE SHOWS: Results of context-aware mode selection, traffic-density heatmaps, and safety override behavior.</a:t>
            </a:r>
          </a:p>
          <a:p>
            <a:r>
              <a:t>2. MY CONTRIBUTION: Formulated the traffic-aware EV preference logic and validated mode transitions across simulated route segments.</a:t>
            </a:r>
          </a:p>
          <a:p>
            <a:r>
              <a:t>3. 30s EXPLANATION: The heatmap illustrates how the EMS adapts to traffic density. In dense urban traffic, the controller prioritizes electric drive to avoid engine idling. On highways, the engine operates in its peak efficiency zone, preserving battery charge for subsequent city segments.</a:t>
            </a:r>
          </a:p>
          <a:p>
            <a:r>
              <a:t>4. LIKELY VIVA QUESTION: How does the EMS handle regenerative braking during high SOC conditions?</a:t>
            </a:r>
          </a:p>
          <a:p>
            <a:r>
              <a:t>5. CONCISE ANSWER: If the battery SOC exceeds 95% or temperature is high, regenerative power is throttled to prevent battery overcharging and cell degradation, blending mechanical friction braking as needed.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sp>
      <p:sp>
        <p:nvSpPr>
          <p:cNvPr id="3" name="Notes Placeholder 2"/>
          <p:cNvSpPr>
            <a:spLocks noGrp="1"/>
          </p:cNvSpPr>
          <p:nvPr>
            <p:ph type="body" idx="1"/>
          </p:nvPr>
        </p:nvSpPr>
        <p:spPr/>
        <p:txBody>
          <a:bodyPr/>
          <a:lstStyle/>
          <a:p>
            <a:r>
              <a:t>1. WHAT THIS SLIDE SHOWS: Table 2.1 from the Final Internship Report showing the comprehensive EMS Performance KPI Summary.</a:t>
            </a:r>
          </a:p>
          <a:p>
            <a:r>
              <a:t>2. MY CONTRIBUTION: Configured the evaluation metrics script and aggregated the drive-cycle simulation results.</a:t>
            </a:r>
          </a:p>
          <a:p>
            <a:r>
              <a:t>3. 35s EXPLANATION: Table 2.1 summarizes the complete performance across our simulation suite. Fuel economy reached 1.27 L/100 km, with 92% regenerative energy recovery. RMS SOC deviation was constrained to 1.86%, proving charge-sustaining stability. CO2 emissions were limited to 29.3 g/km while maintaining 33.2% average engine efficiency.</a:t>
            </a:r>
          </a:p>
          <a:p>
            <a:r>
              <a:t>4. LIKELY VIVA QUESTION: Why is RMS SOC deviation an important metric?</a:t>
            </a:r>
          </a:p>
          <a:p>
            <a:r>
              <a:t>5. CONCISE ANSWER: A low RMS SOC deviation (1.86%) proves that the hybrid vehicle is charge-sustaining—meaning it does not artificially inflate fuel economy by depleting the battery pack without replenishing it.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 WHAT THIS SLIDE SHOWS: Core conclusions, technical takeaways, and summary of internship achievements.</a:t>
            </a:r>
          </a:p>
          <a:p>
            <a:r>
              <a:t>2. MY CONTRIBUTION: Led the design and simulation validation of the predictive EMS algorithms.</a:t>
            </a:r>
          </a:p>
          <a:p>
            <a:r>
              <a:t>3. 30s EXPLANATION: In conclusion, this internship successfully demonstrated the viability of integrating machine learning forecasting with supervisory rule-based control for hybrid electric vehicles. We achieved robust predictive accuracy, strict safety adherence, and notable fuel and energy efficiency in simulation.</a:t>
            </a:r>
          </a:p>
          <a:p>
            <a:r>
              <a:t>4. LIKELY VIVA QUESTION: What is your single biggest takeaway from this internship?</a:t>
            </a:r>
          </a:p>
          <a:p>
            <a:r>
              <a:t>5. CONCISE ANSWER: In safety-critical automotive systems, machine learning should serve as an advisory intelligence layer paired with deterministic rule-based safety guards rather than acting as an unconstrained black-box controller.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 WHAT THIS SLIDE SHOWS: Explicitly labeled Future Scope and extension roadmap for subsequent phases of Project PHEX.</a:t>
            </a:r>
          </a:p>
          <a:p>
            <a:r>
              <a:t>2. MY CONTRIBUTION: Identified the software-to-hardware migration path and embedded optimization requirements.</a:t>
            </a:r>
          </a:p>
          <a:p>
            <a:r>
              <a:t>3. 25s EXPLANATION: Future phases will focus on deploying these algorithms onto embedded automotive ECUs via C++/ONNX, integrating live CAN-FD bus communication, and performing Hardware-in-the-Loop testing before physical vehicle integration.</a:t>
            </a:r>
          </a:p>
          <a:p>
            <a:r>
              <a:t>4. LIKELY VIVA QUESTION: How would you optimize the Random Forest model for an embedded ECU with limited memory?</a:t>
            </a:r>
          </a:p>
          <a:p>
            <a:r>
              <a:t>5. CONCISE ANSWER: We can apply tree pruning, quantization, convert the ensemble to fixed-point C code using tools like Micro-ML or ONNX Runtime, and limit maximum tree depth to constrain memory footprint.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 WHAT THIS SLIDE SHOWS: Key literature citations in IEEE standard format taken directly from the final internship report.</a:t>
            </a:r>
          </a:p>
          <a:p>
            <a:r>
              <a:t>2. MY CONTRIBUTION: Ensured all cited sources strictly back the automotive control, ML regression, and simulation methodologies.</a:t>
            </a:r>
          </a:p>
          <a:p>
            <a:r>
              <a:t>3. 15s EXPLANATION: These references represent the foundational literature in HEV supervisory control, ensemble machine learning, and standardized drive-cycle testing used throughout this work.</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 WHAT THIS SLIDE SHOWS: Concluding slide inviting questions and evaluation from the viva examiners.</a:t>
            </a:r>
          </a:p>
          <a:p>
            <a:r>
              <a:t>2. 15s EXPLANATION: Thank you very much for your time and guidance. I am now open to questions and feedback regarding the predictive EMS methodology, demand forecasting models, and simulation results.</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0" y="1886797"/>
            <a:ext cx="8520600" cy="1842900"/>
          </a:xfrm>
          <a:prstGeom prst="rect">
            <a:avLst/>
          </a:prstGeom>
        </p:spPr>
        <p:txBody>
          <a:bodyPr spcFirstLastPara="1" wrap="square" lIns="91425" tIns="91425" rIns="91425" bIns="91425" anchor="b"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 name="Shape 11"/>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a:p>
        </p:txBody>
      </p:sp>
      <p:sp>
        <p:nvSpPr>
          <p:cNvPr id="13" name="Shape 13"/>
          <p:cNvSpPr/>
          <p:nvPr/>
        </p:nvSpPr>
        <p:spPr>
          <a:xfrm flipH="1">
            <a:off x="18" y="67300"/>
            <a:ext cx="9143982" cy="1420254"/>
          </a:xfrm>
          <a:prstGeom prst="flowChartDocument">
            <a:avLst/>
          </a:prstGeom>
          <a:no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 name="Shape 14"/>
          <p:cNvSpPr/>
          <p:nvPr/>
        </p:nvSpPr>
        <p:spPr>
          <a:xfrm flipH="1">
            <a:off x="18" y="0"/>
            <a:ext cx="9143982" cy="1420254"/>
          </a:xfrm>
          <a:prstGeom prst="flowChartDocument">
            <a:avLst/>
          </a:prstGeom>
          <a:solidFill>
            <a:srgbClr val="0B539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 name="Shape 15"/>
          <p:cNvSpPr/>
          <p:nvPr/>
        </p:nvSpPr>
        <p:spPr>
          <a:xfrm>
            <a:off x="-11025" y="5919900"/>
            <a:ext cx="9155100" cy="9381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Shape 16"/>
          <p:cNvSpPr txBox="1"/>
          <p:nvPr/>
        </p:nvSpPr>
        <p:spPr>
          <a:xfrm>
            <a:off x="25" y="5919900"/>
            <a:ext cx="3572100" cy="9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a:solidFill>
                  <a:srgbClr val="FFFFFF"/>
                </a:solidFill>
                <a:latin typeface="Georgia"/>
                <a:ea typeface="Georgia"/>
                <a:cs typeface="Georgia"/>
                <a:sym typeface="Georgia"/>
              </a:rPr>
              <a:t>MISSION</a:t>
            </a:r>
            <a:endParaRPr b="1">
              <a:solidFill>
                <a:srgbClr val="FFFFFF"/>
              </a:solidFill>
              <a:latin typeface="Georgia"/>
              <a:ea typeface="Georgia"/>
              <a:cs typeface="Georgia"/>
              <a:sym typeface="Georgia"/>
            </a:endParaRPr>
          </a:p>
          <a:p>
            <a:pPr marL="0" lvl="0" indent="0" algn="ctr" rtl="0">
              <a:spcBef>
                <a:spcPts val="0"/>
              </a:spcBef>
              <a:spcAft>
                <a:spcPts val="0"/>
              </a:spcAft>
              <a:buNone/>
            </a:pPr>
            <a:r>
              <a:rPr lang="en-GB" sz="1100">
                <a:solidFill>
                  <a:srgbClr val="FFFFFF"/>
                </a:solidFill>
                <a:latin typeface="Georgia"/>
                <a:ea typeface="Georgia"/>
                <a:cs typeface="Georgia"/>
                <a:sym typeface="Georgia"/>
              </a:rPr>
              <a:t>CHRIST is a nurturing ground for an individual’s holistic development to make effective contribution to the society in a dynamic environment</a:t>
            </a:r>
            <a:endParaRPr sz="1100">
              <a:solidFill>
                <a:srgbClr val="FFFFFF"/>
              </a:solidFill>
              <a:latin typeface="Georgia"/>
              <a:ea typeface="Georgia"/>
              <a:cs typeface="Georgia"/>
              <a:sym typeface="Georgia"/>
            </a:endParaRPr>
          </a:p>
        </p:txBody>
      </p:sp>
      <p:sp>
        <p:nvSpPr>
          <p:cNvPr id="17" name="Shape 17"/>
          <p:cNvSpPr txBox="1"/>
          <p:nvPr/>
        </p:nvSpPr>
        <p:spPr>
          <a:xfrm>
            <a:off x="3709075" y="5919900"/>
            <a:ext cx="2030700" cy="64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b="1">
                <a:solidFill>
                  <a:srgbClr val="FFFFFF"/>
                </a:solidFill>
                <a:latin typeface="Georgia"/>
                <a:ea typeface="Georgia"/>
                <a:cs typeface="Georgia"/>
                <a:sym typeface="Georgia"/>
              </a:rPr>
              <a:t>VISION</a:t>
            </a:r>
            <a:endParaRPr b="1">
              <a:solidFill>
                <a:srgbClr val="FFFFFF"/>
              </a:solidFill>
              <a:latin typeface="Georgia"/>
              <a:ea typeface="Georgia"/>
              <a:cs typeface="Georgia"/>
              <a:sym typeface="Georgia"/>
            </a:endParaRPr>
          </a:p>
          <a:p>
            <a:pPr marL="0" lvl="0" indent="0" algn="ctr" rtl="0">
              <a:spcBef>
                <a:spcPts val="0"/>
              </a:spcBef>
              <a:spcAft>
                <a:spcPts val="0"/>
              </a:spcAft>
              <a:buNone/>
            </a:pPr>
            <a:r>
              <a:rPr lang="en-GB" sz="1100">
                <a:solidFill>
                  <a:srgbClr val="FFFFFF"/>
                </a:solidFill>
                <a:latin typeface="Georgia"/>
                <a:ea typeface="Georgia"/>
                <a:cs typeface="Georgia"/>
                <a:sym typeface="Georgia"/>
              </a:rPr>
              <a:t>Excellence and Service</a:t>
            </a:r>
            <a:endParaRPr sz="1100">
              <a:solidFill>
                <a:srgbClr val="FFFFFF"/>
              </a:solidFill>
              <a:latin typeface="Georgia"/>
              <a:ea typeface="Georgia"/>
              <a:cs typeface="Georgia"/>
              <a:sym typeface="Georgia"/>
            </a:endParaRPr>
          </a:p>
        </p:txBody>
      </p:sp>
      <p:sp>
        <p:nvSpPr>
          <p:cNvPr id="18" name="Shape 18"/>
          <p:cNvSpPr txBox="1"/>
          <p:nvPr/>
        </p:nvSpPr>
        <p:spPr>
          <a:xfrm>
            <a:off x="6067875" y="5919900"/>
            <a:ext cx="2984400" cy="9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a:solidFill>
                  <a:srgbClr val="FFFFFF"/>
                </a:solidFill>
                <a:latin typeface="Georgia"/>
                <a:ea typeface="Georgia"/>
                <a:cs typeface="Georgia"/>
                <a:sym typeface="Georgia"/>
              </a:rPr>
              <a:t>CORE   VALUES</a:t>
            </a:r>
            <a:endParaRPr b="1">
              <a:solidFill>
                <a:srgbClr val="FFFFFF"/>
              </a:solidFill>
              <a:latin typeface="Georgia"/>
              <a:ea typeface="Georgia"/>
              <a:cs typeface="Georgia"/>
              <a:sym typeface="Georgia"/>
            </a:endParaRPr>
          </a:p>
          <a:p>
            <a:pPr marL="0" lvl="0" indent="0" algn="ctr" rtl="0">
              <a:spcBef>
                <a:spcPts val="0"/>
              </a:spcBef>
              <a:spcAft>
                <a:spcPts val="0"/>
              </a:spcAft>
              <a:buNone/>
            </a:pPr>
            <a:r>
              <a:rPr lang="en-GB" sz="1100">
                <a:solidFill>
                  <a:srgbClr val="FFFFFF"/>
                </a:solidFill>
                <a:latin typeface="Georgia"/>
                <a:ea typeface="Georgia"/>
                <a:cs typeface="Georgia"/>
                <a:sym typeface="Georgia"/>
              </a:rPr>
              <a:t>Faith in God |  Moral Uprightness</a:t>
            </a:r>
            <a:br>
              <a:rPr lang="en-GB" sz="1100">
                <a:solidFill>
                  <a:srgbClr val="FFFFFF"/>
                </a:solidFill>
                <a:latin typeface="Georgia"/>
                <a:ea typeface="Georgia"/>
                <a:cs typeface="Georgia"/>
                <a:sym typeface="Georgia"/>
              </a:rPr>
            </a:br>
            <a:r>
              <a:rPr lang="en-GB" sz="1100">
                <a:solidFill>
                  <a:srgbClr val="FFFFFF"/>
                </a:solidFill>
                <a:latin typeface="Georgia"/>
                <a:ea typeface="Georgia"/>
                <a:cs typeface="Georgia"/>
                <a:sym typeface="Georgia"/>
              </a:rPr>
              <a:t> Love of Fellow Beings   </a:t>
            </a:r>
            <a:br>
              <a:rPr lang="en-GB" sz="1100">
                <a:solidFill>
                  <a:srgbClr val="FFFFFF"/>
                </a:solidFill>
                <a:latin typeface="Georgia"/>
                <a:ea typeface="Georgia"/>
                <a:cs typeface="Georgia"/>
                <a:sym typeface="Georgia"/>
              </a:rPr>
            </a:br>
            <a:r>
              <a:rPr lang="en-GB" sz="1100">
                <a:solidFill>
                  <a:srgbClr val="FFFFFF"/>
                </a:solidFill>
                <a:latin typeface="Georgia"/>
                <a:ea typeface="Georgia"/>
                <a:cs typeface="Georgia"/>
                <a:sym typeface="Georgia"/>
              </a:rPr>
              <a:t>Social Responsibility | Pursuit of Excellence</a:t>
            </a:r>
            <a:endParaRPr sz="1100">
              <a:solidFill>
                <a:srgbClr val="FFFFFF"/>
              </a:solidFill>
              <a:latin typeface="Georgia"/>
              <a:ea typeface="Georgia"/>
              <a:cs typeface="Georgia"/>
              <a:sym typeface="Georgia"/>
            </a:endParaRPr>
          </a:p>
        </p:txBody>
      </p:sp>
      <p:pic>
        <p:nvPicPr>
          <p:cNvPr id="19" name="Shape 19"/>
          <p:cNvPicPr preferRelativeResize="0"/>
          <p:nvPr/>
        </p:nvPicPr>
        <p:blipFill>
          <a:blip r:embed="rId2">
            <a:alphaModFix/>
          </a:blip>
          <a:stretch>
            <a:fillRect/>
          </a:stretch>
        </p:blipFill>
        <p:spPr>
          <a:xfrm>
            <a:off x="5943450" y="232167"/>
            <a:ext cx="2764676" cy="100220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Shape 2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a:p>
        </p:txBody>
      </p:sp>
      <p:sp>
        <p:nvSpPr>
          <p:cNvPr id="23" name="Shape 23"/>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 name="Shape 24"/>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25" name="Shape 25"/>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 name="Shape 26"/>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 name="Shape 27"/>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Shape 30"/>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a:p>
        </p:txBody>
      </p:sp>
      <p:sp>
        <p:nvSpPr>
          <p:cNvPr id="31" name="Shape 3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a:p>
        </p:txBody>
      </p:sp>
      <p:sp>
        <p:nvSpPr>
          <p:cNvPr id="32" name="Shape 3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 name="Shape 3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34" name="Shape 3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 name="Shape 3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 name="Shape 3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9" name="Shape 39"/>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40" name="Shape 40"/>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41" name="Shape 4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a:p>
        </p:txBody>
      </p:sp>
      <p:sp>
        <p:nvSpPr>
          <p:cNvPr id="42" name="Shape 4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 name="Shape 4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44" name="Shape 4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 name="Shape 4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 name="Shape 4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9" name="Shape 4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a:p>
        </p:txBody>
      </p:sp>
      <p:sp>
        <p:nvSpPr>
          <p:cNvPr id="50" name="Shape 50"/>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 name="Shape 51"/>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52" name="Shape 52"/>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 name="Shape 53"/>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 name="Shape 54"/>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55"/>
        <p:cNvGrpSpPr/>
        <p:nvPr/>
      </p:nvGrpSpPr>
      <p:grpSpPr>
        <a:xfrm>
          <a:off x="0" y="0"/>
          <a:ext cx="0" cy="0"/>
          <a:chOff x="0" y="0"/>
          <a:chExt cx="0" cy="0"/>
        </a:xfrm>
      </p:grpSpPr>
      <p:sp>
        <p:nvSpPr>
          <p:cNvPr id="56" name="Shape 56"/>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7" name="Shape 57"/>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58" name="Shape 5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a:p>
        </p:txBody>
      </p:sp>
      <p:sp>
        <p:nvSpPr>
          <p:cNvPr id="59" name="Shape 59"/>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 name="Shape 60"/>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61" name="Shape 61"/>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 name="Shape 62"/>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 name="Shape 63"/>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66" name="Shape 6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a:p>
        </p:txBody>
      </p:sp>
      <p:sp>
        <p:nvSpPr>
          <p:cNvPr id="67" name="Shape 67"/>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 name="Shape 68"/>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69" name="Shape 69"/>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 name="Shape 70"/>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 name="Shape 71"/>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72"/>
        <p:cNvGrpSpPr/>
        <p:nvPr/>
      </p:nvGrpSpPr>
      <p:grpSpPr>
        <a:xfrm>
          <a:off x="0" y="0"/>
          <a:ext cx="0" cy="0"/>
          <a:chOff x="0" y="0"/>
          <a:chExt cx="0" cy="0"/>
        </a:xfrm>
      </p:grpSpPr>
      <p:sp>
        <p:nvSpPr>
          <p:cNvPr id="73" name="Shape 73"/>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 name="Shape 74"/>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5" name="Shape 75"/>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6" name="Shape 76"/>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a:p>
        </p:txBody>
      </p:sp>
      <p:sp>
        <p:nvSpPr>
          <p:cNvPr id="77" name="Shape 7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a:p>
        </p:txBody>
      </p:sp>
      <p:sp>
        <p:nvSpPr>
          <p:cNvPr id="78" name="Shape 78"/>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 name="Shape 79"/>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80" name="Shape 80"/>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 name="Shape 81"/>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 name="Shape 82"/>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83"/>
        <p:cNvGrpSpPr/>
        <p:nvPr/>
      </p:nvGrpSpPr>
      <p:grpSpPr>
        <a:xfrm>
          <a:off x="0" y="0"/>
          <a:ext cx="0" cy="0"/>
          <a:chOff x="0" y="0"/>
          <a:chExt cx="0" cy="0"/>
        </a:xfrm>
      </p:grpSpPr>
      <p:sp>
        <p:nvSpPr>
          <p:cNvPr id="84" name="Shape 84"/>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2200"/>
              <a:buNone/>
              <a:defRPr/>
            </a:lvl1pPr>
          </a:lstStyle>
          <a:p>
            <a:endParaRPr/>
          </a:p>
        </p:txBody>
      </p:sp>
      <p:sp>
        <p:nvSpPr>
          <p:cNvPr id="85" name="Shape 8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a:p>
        </p:txBody>
      </p:sp>
      <p:sp>
        <p:nvSpPr>
          <p:cNvPr id="86" name="Shape 86"/>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 name="Shape 87"/>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88" name="Shape 88"/>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 name="Shape 89"/>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 name="Shape 90"/>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311700" y="1474833"/>
            <a:ext cx="8520600" cy="26181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endParaRPr/>
          </a:p>
        </p:txBody>
      </p:sp>
      <p:sp>
        <p:nvSpPr>
          <p:cNvPr id="93" name="Shape 93"/>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lstStyle>
            <a:lvl1pPr marL="457200" lvl="0" indent="-368300" algn="ctr">
              <a:spcBef>
                <a:spcPts val="0"/>
              </a:spcBef>
              <a:spcAft>
                <a:spcPts val="0"/>
              </a:spcAft>
              <a:buSzPts val="2200"/>
              <a:buChar char="●"/>
              <a:defRPr/>
            </a:lvl1pPr>
            <a:lvl2pPr marL="914400" lvl="1" indent="-342900" algn="ctr">
              <a:spcBef>
                <a:spcPts val="600"/>
              </a:spcBef>
              <a:spcAft>
                <a:spcPts val="0"/>
              </a:spcAft>
              <a:buSzPts val="1800"/>
              <a:buChar char="○"/>
              <a:defRPr/>
            </a:lvl2pPr>
            <a:lvl3pPr marL="1371600" lvl="2" indent="-342900" algn="ctr">
              <a:spcBef>
                <a:spcPts val="600"/>
              </a:spcBef>
              <a:spcAft>
                <a:spcPts val="0"/>
              </a:spcAft>
              <a:buSzPts val="1800"/>
              <a:buChar char="■"/>
              <a:defRPr/>
            </a:lvl3pPr>
            <a:lvl4pPr marL="1828800" lvl="3" indent="-342900" algn="ctr">
              <a:spcBef>
                <a:spcPts val="600"/>
              </a:spcBef>
              <a:spcAft>
                <a:spcPts val="0"/>
              </a:spcAft>
              <a:buSzPts val="1800"/>
              <a:buChar char="●"/>
              <a:defRPr/>
            </a:lvl4pPr>
            <a:lvl5pPr marL="2286000" lvl="4" indent="-342900" algn="ctr">
              <a:spcBef>
                <a:spcPts val="600"/>
              </a:spcBef>
              <a:spcAft>
                <a:spcPts val="0"/>
              </a:spcAft>
              <a:buSzPts val="1800"/>
              <a:buChar char="○"/>
              <a:defRPr/>
            </a:lvl5pPr>
            <a:lvl6pPr marL="2743200" lvl="5" indent="-342900" algn="ctr">
              <a:spcBef>
                <a:spcPts val="600"/>
              </a:spcBef>
              <a:spcAft>
                <a:spcPts val="0"/>
              </a:spcAft>
              <a:buSzPts val="1800"/>
              <a:buChar char="■"/>
              <a:defRPr/>
            </a:lvl6pPr>
            <a:lvl7pPr marL="3200400" lvl="6" indent="-342900" algn="ctr">
              <a:spcBef>
                <a:spcPts val="600"/>
              </a:spcBef>
              <a:spcAft>
                <a:spcPts val="0"/>
              </a:spcAft>
              <a:buSzPts val="1800"/>
              <a:buChar char="●"/>
              <a:defRPr/>
            </a:lvl7pPr>
            <a:lvl8pPr marL="3657600" lvl="7" indent="-342900" algn="ctr">
              <a:spcBef>
                <a:spcPts val="600"/>
              </a:spcBef>
              <a:spcAft>
                <a:spcPts val="0"/>
              </a:spcAft>
              <a:buSzPts val="1800"/>
              <a:buChar char="○"/>
              <a:defRPr/>
            </a:lvl8pPr>
            <a:lvl9pPr marL="4114800" lvl="8" indent="-342900" algn="ctr">
              <a:spcBef>
                <a:spcPts val="600"/>
              </a:spcBef>
              <a:spcAft>
                <a:spcPts val="600"/>
              </a:spcAft>
              <a:buSzPts val="1800"/>
              <a:buChar char="■"/>
              <a:defRPr/>
            </a:lvl9pPr>
          </a:lstStyle>
          <a:p>
            <a:endParaRPr/>
          </a:p>
        </p:txBody>
      </p:sp>
      <p:sp>
        <p:nvSpPr>
          <p:cNvPr id="94" name="Shape 9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a:p>
        </p:txBody>
      </p:sp>
      <p:sp>
        <p:nvSpPr>
          <p:cNvPr id="95" name="Shape 95"/>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 name="Shape 96"/>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97" name="Shape 97"/>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 name="Shape 98"/>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 name="Shape 99"/>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00"/>
        <p:cNvGrpSpPr/>
        <p:nvPr/>
      </p:nvGrpSpPr>
      <p:grpSpPr>
        <a:xfrm>
          <a:off x="0" y="0"/>
          <a:ext cx="0" cy="0"/>
          <a:chOff x="0" y="0"/>
          <a:chExt cx="0" cy="0"/>
        </a:xfrm>
      </p:grpSpPr>
      <p:sp>
        <p:nvSpPr>
          <p:cNvPr id="101" name="Shape 10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a:p>
        </p:txBody>
      </p:sp>
      <p:sp>
        <p:nvSpPr>
          <p:cNvPr id="102" name="Shape 10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 name="Shape 10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104" name="Shape 10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 name="Shape 10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 name="Shape 10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lstStyle>
            <a:lvl1pPr lvl="0">
              <a:spcBef>
                <a:spcPts val="0"/>
              </a:spcBef>
              <a:spcAft>
                <a:spcPts val="0"/>
              </a:spcAft>
              <a:buSzPts val="2800"/>
              <a:buFont typeface="Archivo Narrow"/>
              <a:buNone/>
              <a:defRPr sz="2800" b="1">
                <a:latin typeface="Archivo Narrow"/>
                <a:ea typeface="Archivo Narrow"/>
                <a:cs typeface="Archivo Narrow"/>
                <a:sym typeface="Archivo Narrow"/>
              </a:defRPr>
            </a:lvl1pPr>
            <a:lvl2pPr lvl="1">
              <a:spcBef>
                <a:spcPts val="0"/>
              </a:spcBef>
              <a:spcAft>
                <a:spcPts val="0"/>
              </a:spcAft>
              <a:buSzPts val="2800"/>
              <a:buFont typeface="Archivo Narrow"/>
              <a:buNone/>
              <a:defRPr sz="2800" b="1">
                <a:latin typeface="Archivo Narrow"/>
                <a:ea typeface="Archivo Narrow"/>
                <a:cs typeface="Archivo Narrow"/>
                <a:sym typeface="Archivo Narrow"/>
              </a:defRPr>
            </a:lvl2pPr>
            <a:lvl3pPr lvl="2">
              <a:spcBef>
                <a:spcPts val="0"/>
              </a:spcBef>
              <a:spcAft>
                <a:spcPts val="0"/>
              </a:spcAft>
              <a:buSzPts val="2800"/>
              <a:buFont typeface="Archivo Narrow"/>
              <a:buNone/>
              <a:defRPr sz="2800" b="1">
                <a:latin typeface="Archivo Narrow"/>
                <a:ea typeface="Archivo Narrow"/>
                <a:cs typeface="Archivo Narrow"/>
                <a:sym typeface="Archivo Narrow"/>
              </a:defRPr>
            </a:lvl3pPr>
            <a:lvl4pPr lvl="3">
              <a:spcBef>
                <a:spcPts val="0"/>
              </a:spcBef>
              <a:spcAft>
                <a:spcPts val="0"/>
              </a:spcAft>
              <a:buSzPts val="2800"/>
              <a:buFont typeface="Archivo Narrow"/>
              <a:buNone/>
              <a:defRPr sz="2800" b="1">
                <a:latin typeface="Archivo Narrow"/>
                <a:ea typeface="Archivo Narrow"/>
                <a:cs typeface="Archivo Narrow"/>
                <a:sym typeface="Archivo Narrow"/>
              </a:defRPr>
            </a:lvl4pPr>
            <a:lvl5pPr lvl="4">
              <a:spcBef>
                <a:spcPts val="0"/>
              </a:spcBef>
              <a:spcAft>
                <a:spcPts val="0"/>
              </a:spcAft>
              <a:buSzPts val="2800"/>
              <a:buFont typeface="Archivo Narrow"/>
              <a:buNone/>
              <a:defRPr sz="2800" b="1">
                <a:latin typeface="Archivo Narrow"/>
                <a:ea typeface="Archivo Narrow"/>
                <a:cs typeface="Archivo Narrow"/>
                <a:sym typeface="Archivo Narrow"/>
              </a:defRPr>
            </a:lvl5pPr>
            <a:lvl6pPr lvl="5">
              <a:spcBef>
                <a:spcPts val="0"/>
              </a:spcBef>
              <a:spcAft>
                <a:spcPts val="0"/>
              </a:spcAft>
              <a:buSzPts val="2800"/>
              <a:buFont typeface="Archivo Narrow"/>
              <a:buNone/>
              <a:defRPr sz="2800" b="1">
                <a:latin typeface="Archivo Narrow"/>
                <a:ea typeface="Archivo Narrow"/>
                <a:cs typeface="Archivo Narrow"/>
                <a:sym typeface="Archivo Narrow"/>
              </a:defRPr>
            </a:lvl6pPr>
            <a:lvl7pPr lvl="6">
              <a:spcBef>
                <a:spcPts val="0"/>
              </a:spcBef>
              <a:spcAft>
                <a:spcPts val="0"/>
              </a:spcAft>
              <a:buSzPts val="2800"/>
              <a:buFont typeface="Archivo Narrow"/>
              <a:buNone/>
              <a:defRPr sz="2800" b="1">
                <a:latin typeface="Archivo Narrow"/>
                <a:ea typeface="Archivo Narrow"/>
                <a:cs typeface="Archivo Narrow"/>
                <a:sym typeface="Archivo Narrow"/>
              </a:defRPr>
            </a:lvl7pPr>
            <a:lvl8pPr lvl="7">
              <a:spcBef>
                <a:spcPts val="0"/>
              </a:spcBef>
              <a:spcAft>
                <a:spcPts val="0"/>
              </a:spcAft>
              <a:buSzPts val="2800"/>
              <a:buFont typeface="Archivo Narrow"/>
              <a:buNone/>
              <a:defRPr sz="2800" b="1">
                <a:latin typeface="Archivo Narrow"/>
                <a:ea typeface="Archivo Narrow"/>
                <a:cs typeface="Archivo Narrow"/>
                <a:sym typeface="Archivo Narrow"/>
              </a:defRPr>
            </a:lvl8pPr>
            <a:lvl9pPr lvl="8">
              <a:spcBef>
                <a:spcPts val="0"/>
              </a:spcBef>
              <a:spcAft>
                <a:spcPts val="0"/>
              </a:spcAft>
              <a:buSzPts val="2800"/>
              <a:buFont typeface="Archivo Narrow"/>
              <a:buNone/>
              <a:defRPr sz="2800" b="1">
                <a:latin typeface="Archivo Narrow"/>
                <a:ea typeface="Archivo Narrow"/>
                <a:cs typeface="Archivo Narrow"/>
                <a:sym typeface="Archivo Narrow"/>
              </a:defRPr>
            </a:lvl9pPr>
          </a:lstStyle>
          <a:p>
            <a:endParaRPr/>
          </a:p>
        </p:txBody>
      </p:sp>
      <p:sp>
        <p:nvSpPr>
          <p:cNvPr id="7" name="Shape 7"/>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lstStyle>
            <a:lvl1pPr marL="457200" lvl="0" indent="-368300">
              <a:lnSpc>
                <a:spcPct val="100000"/>
              </a:lnSpc>
              <a:spcBef>
                <a:spcPts val="0"/>
              </a:spcBef>
              <a:spcAft>
                <a:spcPts val="0"/>
              </a:spcAft>
              <a:buSzPts val="2200"/>
              <a:buFont typeface="Archivo Narrow"/>
              <a:buChar char="●"/>
              <a:defRPr sz="2200">
                <a:latin typeface="Archivo Narrow"/>
                <a:ea typeface="Archivo Narrow"/>
                <a:cs typeface="Archivo Narrow"/>
                <a:sym typeface="Archivo Narrow"/>
              </a:defRPr>
            </a:lvl1pPr>
            <a:lvl2pPr marL="914400" lvl="1"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2pPr>
            <a:lvl3pPr marL="1371600" lvl="2"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3pPr>
            <a:lvl4pPr marL="1828800" lvl="3"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4pPr>
            <a:lvl5pPr marL="2286000" lvl="4"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5pPr>
            <a:lvl6pPr marL="2743200" lvl="5"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6pPr>
            <a:lvl7pPr marL="3200400" lvl="6"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7pPr>
            <a:lvl8pPr marL="3657600" lvl="7"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8pPr>
            <a:lvl9pPr marL="4114800" lvl="8" indent="-342900">
              <a:lnSpc>
                <a:spcPct val="100000"/>
              </a:lnSpc>
              <a:spcBef>
                <a:spcPts val="600"/>
              </a:spcBef>
              <a:spcAft>
                <a:spcPts val="600"/>
              </a:spcAft>
              <a:buSzPts val="1800"/>
              <a:buFont typeface="Archivo Narrow"/>
              <a:buChar char="■"/>
              <a:defRPr sz="1800">
                <a:latin typeface="Archivo Narrow"/>
                <a:ea typeface="Archivo Narrow"/>
                <a:cs typeface="Archivo Narrow"/>
                <a:sym typeface="Archivo Narrow"/>
              </a:defRPr>
            </a:lvl9pPr>
          </a:lstStyle>
          <a:p>
            <a:endParaRPr/>
          </a:p>
        </p:txBody>
      </p:sp>
      <p:sp>
        <p:nvSpPr>
          <p:cNvPr id="8" name="Shape 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spcBef>
                <a:spcPts val="0"/>
              </a:spcBef>
              <a:buNone/>
              <a:defRPr sz="1000">
                <a:solidFill>
                  <a:schemeClr val="dk2"/>
                </a:solidFill>
              </a:defRPr>
            </a:lvl1pPr>
            <a:lvl2pPr lvl="1" algn="r">
              <a:spcBef>
                <a:spcPts val="0"/>
              </a:spcBef>
              <a:buNone/>
              <a:defRPr sz="1000">
                <a:solidFill>
                  <a:schemeClr val="dk2"/>
                </a:solidFill>
              </a:defRPr>
            </a:lvl2pPr>
            <a:lvl3pPr lvl="2" algn="r">
              <a:spcBef>
                <a:spcPts val="0"/>
              </a:spcBef>
              <a:buNone/>
              <a:defRPr sz="1000">
                <a:solidFill>
                  <a:schemeClr val="dk2"/>
                </a:solidFill>
              </a:defRPr>
            </a:lvl3pPr>
            <a:lvl4pPr lvl="3" algn="r">
              <a:spcBef>
                <a:spcPts val="0"/>
              </a:spcBef>
              <a:buNone/>
              <a:defRPr sz="1000">
                <a:solidFill>
                  <a:schemeClr val="dk2"/>
                </a:solidFill>
              </a:defRPr>
            </a:lvl4pPr>
            <a:lvl5pPr lvl="4" algn="r">
              <a:spcBef>
                <a:spcPts val="0"/>
              </a:spcBef>
              <a:buNone/>
              <a:defRPr sz="1000">
                <a:solidFill>
                  <a:schemeClr val="dk2"/>
                </a:solidFill>
              </a:defRPr>
            </a:lvl5pPr>
            <a:lvl6pPr lvl="5" algn="r">
              <a:spcBef>
                <a:spcPts val="0"/>
              </a:spcBef>
              <a:buNone/>
              <a:defRPr sz="1000">
                <a:solidFill>
                  <a:schemeClr val="dk2"/>
                </a:solidFill>
              </a:defRPr>
            </a:lvl6pPr>
            <a:lvl7pPr lvl="6" algn="r">
              <a:spcBef>
                <a:spcPts val="0"/>
              </a:spcBef>
              <a:buNone/>
              <a:defRPr sz="1000">
                <a:solidFill>
                  <a:schemeClr val="dk2"/>
                </a:solidFill>
              </a:defRPr>
            </a:lvl7pPr>
            <a:lvl8pPr lvl="7" algn="r">
              <a:spcBef>
                <a:spcPts val="0"/>
              </a:spcBef>
              <a:buNone/>
              <a:defRPr sz="1000">
                <a:solidFill>
                  <a:schemeClr val="dk2"/>
                </a:solidFill>
              </a:defRPr>
            </a:lvl8pPr>
            <a:lvl9pPr lvl="8" algn="r">
              <a:spcBef>
                <a:spcPts val="0"/>
              </a:spcBef>
              <a:buNone/>
              <a:defRPr sz="1000">
                <a:solidFill>
                  <a:schemeClr val="dk2"/>
                </a:solidFill>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Shape 111"/>
          <p:cNvSpPr txBox="1">
            <a:spLocks noGrp="1"/>
          </p:cNvSpPr>
          <p:nvPr>
            <p:ph type="ctrTitle"/>
          </p:nvPr>
        </p:nvSpPr>
        <p:spPr>
          <a:xfrm>
            <a:off x="0" y="1364367"/>
            <a:ext cx="8832300" cy="1714800"/>
          </a:xfrm>
          <a:prstGeom prst="rect">
            <a:avLst/>
          </a:prstGeom>
        </p:spPr>
        <p:txBody>
          <a:bodyPr spcFirstLastPara="1" wrap="square" lIns="91425" tIns="91425" rIns="91425" bIns="91425" anchor="b" anchorCtr="0">
            <a:noAutofit/>
          </a:bodyPr>
          <a:lstStyle/>
          <a:p>
            <a:pPr marL="0" lvl="0" indent="0" algn="ctr">
              <a:spcBef>
                <a:spcPts val="0"/>
              </a:spcBef>
              <a:spcAft>
                <a:spcPts val="0"/>
              </a:spcAft>
              <a:buNone/>
              <a:defRPr sz="2000" b="1">
                <a:solidFill>
                  <a:srgbClr val="003366"/>
                </a:solidFill>
                <a:latin typeface="Calibri"/>
              </a:defRPr>
            </a:pPr>
            <a:r>
              <a:rPr dirty="0">
                <a:latin typeface="Times New Roman" panose="02020603050405020304" pitchFamily="18" charset="0"/>
                <a:cs typeface="Times New Roman" panose="02020603050405020304" pitchFamily="18" charset="0"/>
              </a:rPr>
              <a:t>Summer Internship 2026-2027</a:t>
            </a:r>
          </a:p>
          <a:p>
            <a:pPr algn="ctr">
              <a:defRPr sz="1800" b="1">
                <a:solidFill>
                  <a:srgbClr val="102C57"/>
                </a:solidFill>
                <a:latin typeface="Calibri"/>
              </a:defRPr>
            </a:pPr>
            <a:r>
              <a:rPr dirty="0">
                <a:latin typeface="Times New Roman" panose="02020603050405020304" pitchFamily="18" charset="0"/>
                <a:cs typeface="Times New Roman" panose="02020603050405020304" pitchFamily="18" charset="0"/>
              </a:rPr>
              <a:t>Machine Learning &amp; Edge Computing enabled Energy Management System for optimization of Hybrid Electric Powertrain: Proof-of-Concept and Predictive EMS</a:t>
            </a:r>
          </a:p>
        </p:txBody>
      </p:sp>
      <p:sp>
        <p:nvSpPr>
          <p:cNvPr id="112" name="Shape 112"/>
          <p:cNvSpPr txBox="1">
            <a:spLocks noGrp="1"/>
          </p:cNvSpPr>
          <p:nvPr>
            <p:ph type="subTitle" idx="1"/>
          </p:nvPr>
        </p:nvSpPr>
        <p:spPr>
          <a:xfrm>
            <a:off x="311700" y="3102747"/>
            <a:ext cx="8520600" cy="1348482"/>
          </a:xfrm>
          <a:prstGeom prst="rect">
            <a:avLst/>
          </a:prstGeom>
        </p:spPr>
        <p:txBody>
          <a:bodyPr spcFirstLastPara="1" wrap="square" lIns="91425" tIns="91425" rIns="91425" bIns="91425" anchor="t" anchorCtr="0">
            <a:noAutofit/>
          </a:bodyPr>
          <a:lstStyle/>
          <a:p>
            <a:pPr marL="0" lvl="0" indent="0" algn="ctr">
              <a:spcBef>
                <a:spcPts val="0"/>
              </a:spcBef>
              <a:spcAft>
                <a:spcPts val="0"/>
              </a:spcAft>
              <a:buNone/>
              <a:defRPr sz="1800" b="1">
                <a:solidFill>
                  <a:srgbClr val="000000"/>
                </a:solidFill>
                <a:latin typeface="Calibri"/>
              </a:defRPr>
            </a:pPr>
            <a:r>
              <a:rPr dirty="0">
                <a:latin typeface="Times New Roman" panose="02020603050405020304" pitchFamily="18" charset="0"/>
                <a:cs typeface="Times New Roman" panose="02020603050405020304" pitchFamily="18" charset="0"/>
              </a:rPr>
              <a:t>Mishael Julian</a:t>
            </a:r>
          </a:p>
          <a:p>
            <a:pPr algn="ctr">
              <a:defRPr sz="1500" b="0">
                <a:solidFill>
                  <a:srgbClr val="3C3C3C"/>
                </a:solidFill>
                <a:latin typeface="Calibri"/>
              </a:defRPr>
            </a:pPr>
            <a:r>
              <a:rPr dirty="0">
                <a:latin typeface="Times New Roman" panose="02020603050405020304" pitchFamily="18" charset="0"/>
                <a:cs typeface="Times New Roman" panose="02020603050405020304" pitchFamily="18" charset="0"/>
              </a:rPr>
              <a:t>(Reg No: 2462184)</a:t>
            </a:r>
          </a:p>
          <a:p>
            <a:pPr algn="ctr">
              <a:defRPr sz="1400" b="0">
                <a:solidFill>
                  <a:srgbClr val="3C3C3C"/>
                </a:solidFill>
                <a:latin typeface="Calibri"/>
              </a:defRPr>
            </a:pPr>
            <a:r>
              <a:rPr dirty="0">
                <a:latin typeface="Times New Roman" panose="02020603050405020304" pitchFamily="18" charset="0"/>
                <a:cs typeface="Times New Roman" panose="02020603050405020304" pitchFamily="18" charset="0"/>
              </a:rPr>
              <a:t>Duration: 04 May 2026 – 06 June 2026</a:t>
            </a:r>
          </a:p>
          <a:p>
            <a:pPr algn="ctr">
              <a:defRPr sz="1400" b="1">
                <a:solidFill>
                  <a:srgbClr val="003366"/>
                </a:solidFill>
                <a:latin typeface="Calibri"/>
              </a:defRPr>
            </a:pPr>
            <a:r>
              <a:rPr dirty="0" err="1">
                <a:latin typeface="Times New Roman" panose="02020603050405020304" pitchFamily="18" charset="0"/>
                <a:cs typeface="Times New Roman" panose="02020603050405020304" pitchFamily="18" charset="0"/>
              </a:rPr>
              <a:t>B.Tech</a:t>
            </a:r>
            <a:r>
              <a:rPr dirty="0">
                <a:latin typeface="Times New Roman" panose="02020603050405020304" pitchFamily="18" charset="0"/>
                <a:cs typeface="Times New Roman" panose="02020603050405020304" pitchFamily="18" charset="0"/>
              </a:rPr>
              <a:t> in Artificial Intelligence and Machine Learning</a:t>
            </a:r>
          </a:p>
          <a:p>
            <a:pPr algn="ctr">
              <a:defRPr sz="1300" b="0">
                <a:solidFill>
                  <a:srgbClr val="505050"/>
                </a:solidFill>
                <a:latin typeface="Calibri"/>
              </a:defRPr>
            </a:pPr>
            <a:r>
              <a:rPr dirty="0">
                <a:latin typeface="Times New Roman" panose="02020603050405020304" pitchFamily="18" charset="0"/>
                <a:cs typeface="Times New Roman" panose="02020603050405020304" pitchFamily="18" charset="0"/>
              </a:rPr>
              <a:t>Dept. of AI &amp; Data Science </a:t>
            </a:r>
            <a:r>
              <a:rPr dirty="0" err="1">
                <a:latin typeface="Times New Roman" panose="02020603050405020304" pitchFamily="18" charset="0"/>
                <a:cs typeface="Times New Roman" panose="02020603050405020304" pitchFamily="18" charset="0"/>
              </a:rPr>
              <a:t>Engg</a:t>
            </a:r>
            <a:r>
              <a:rPr dirty="0">
                <a:latin typeface="Times New Roman" panose="02020603050405020304" pitchFamily="18" charset="0"/>
                <a:cs typeface="Times New Roman" panose="02020603050405020304" pitchFamily="18" charset="0"/>
              </a:rPr>
              <a:t>. | School of </a:t>
            </a:r>
            <a:r>
              <a:rPr dirty="0" err="1">
                <a:latin typeface="Times New Roman" panose="02020603050405020304" pitchFamily="18" charset="0"/>
                <a:cs typeface="Times New Roman" panose="02020603050405020304" pitchFamily="18" charset="0"/>
              </a:rPr>
              <a:t>Engg</a:t>
            </a:r>
            <a:r>
              <a:rPr dirty="0">
                <a:latin typeface="Times New Roman" panose="02020603050405020304" pitchFamily="18" charset="0"/>
                <a:cs typeface="Times New Roman" panose="02020603050405020304" pitchFamily="18" charset="0"/>
              </a:rPr>
              <a:t>. &amp; Technology</a:t>
            </a:r>
          </a:p>
          <a:p>
            <a:pPr algn="ctr">
              <a:defRPr sz="1300" b="1">
                <a:solidFill>
                  <a:srgbClr val="505050"/>
                </a:solidFill>
                <a:latin typeface="Calibri"/>
              </a:defRPr>
            </a:pPr>
            <a:r>
              <a:rPr dirty="0">
                <a:latin typeface="Times New Roman" panose="02020603050405020304" pitchFamily="18" charset="0"/>
                <a:cs typeface="Times New Roman" panose="02020603050405020304" pitchFamily="18" charset="0"/>
              </a:rPr>
              <a:t>CHRIST (Deemed to be University), Bengaluru</a:t>
            </a:r>
          </a:p>
        </p:txBody>
      </p:sp>
      <p:sp>
        <p:nvSpPr>
          <p:cNvPr id="4" name="Shape 112">
            <a:extLst>
              <a:ext uri="{FF2B5EF4-FFF2-40B4-BE49-F238E27FC236}">
                <a16:creationId xmlns:a16="http://schemas.microsoft.com/office/drawing/2014/main" id="{B50A6F88-496C-4ECC-89B3-CE09921B9401}"/>
              </a:ext>
            </a:extLst>
          </p:cNvPr>
          <p:cNvSpPr txBox="1">
            <a:spLocks/>
          </p:cNvSpPr>
          <p:nvPr/>
        </p:nvSpPr>
        <p:spPr>
          <a:xfrm>
            <a:off x="311700" y="4451230"/>
            <a:ext cx="8520600" cy="115797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68300" algn="ctr" rtl="0">
              <a:lnSpc>
                <a:spcPct val="100000"/>
              </a:lnSpc>
              <a:spcBef>
                <a:spcPts val="0"/>
              </a:spcBef>
              <a:spcAft>
                <a:spcPts val="0"/>
              </a:spcAft>
              <a:buSzPts val="2800"/>
              <a:buFont typeface="Archivo Narrow"/>
              <a:buNone/>
              <a:defRPr sz="2800" b="0" i="0" u="none" strike="noStrike" cap="none">
                <a:solidFill>
                  <a:srgbClr val="000000"/>
                </a:solidFill>
                <a:latin typeface="Archivo Narrow"/>
                <a:ea typeface="Archivo Narrow"/>
                <a:cs typeface="Archivo Narrow"/>
                <a:sym typeface="Archivo Narrow"/>
              </a:defRPr>
            </a:lvl1pPr>
            <a:lvl2pPr marL="914400" marR="0" lvl="1" indent="-342900" algn="ctr" rtl="0">
              <a:lnSpc>
                <a:spcPct val="100000"/>
              </a:lnSpc>
              <a:spcBef>
                <a:spcPts val="0"/>
              </a:spcBef>
              <a:spcAft>
                <a:spcPts val="0"/>
              </a:spcAft>
              <a:buSzPts val="2800"/>
              <a:buFont typeface="Archivo Narrow"/>
              <a:buNone/>
              <a:defRPr sz="2800" b="0" i="0" u="none" strike="noStrike" cap="none">
                <a:solidFill>
                  <a:srgbClr val="000000"/>
                </a:solidFill>
                <a:latin typeface="Archivo Narrow"/>
                <a:ea typeface="Archivo Narrow"/>
                <a:cs typeface="Archivo Narrow"/>
                <a:sym typeface="Archivo Narrow"/>
              </a:defRPr>
            </a:lvl2pPr>
            <a:lvl3pPr marL="1371600" marR="0" lvl="2" indent="-342900" algn="ctr" rtl="0">
              <a:lnSpc>
                <a:spcPct val="100000"/>
              </a:lnSpc>
              <a:spcBef>
                <a:spcPts val="0"/>
              </a:spcBef>
              <a:spcAft>
                <a:spcPts val="0"/>
              </a:spcAft>
              <a:buSzPts val="2800"/>
              <a:buFont typeface="Archivo Narrow"/>
              <a:buNone/>
              <a:defRPr sz="2800" b="0" i="0" u="none" strike="noStrike" cap="none">
                <a:solidFill>
                  <a:srgbClr val="000000"/>
                </a:solidFill>
                <a:latin typeface="Archivo Narrow"/>
                <a:ea typeface="Archivo Narrow"/>
                <a:cs typeface="Archivo Narrow"/>
                <a:sym typeface="Archivo Narrow"/>
              </a:defRPr>
            </a:lvl3pPr>
            <a:lvl4pPr marL="1828800" marR="0" lvl="3" indent="-342900" algn="ctr" rtl="0">
              <a:lnSpc>
                <a:spcPct val="100000"/>
              </a:lnSpc>
              <a:spcBef>
                <a:spcPts val="0"/>
              </a:spcBef>
              <a:spcAft>
                <a:spcPts val="0"/>
              </a:spcAft>
              <a:buSzPts val="2800"/>
              <a:buFont typeface="Archivo Narrow"/>
              <a:buNone/>
              <a:defRPr sz="2800" b="0" i="0" u="none" strike="noStrike" cap="none">
                <a:solidFill>
                  <a:srgbClr val="000000"/>
                </a:solidFill>
                <a:latin typeface="Archivo Narrow"/>
                <a:ea typeface="Archivo Narrow"/>
                <a:cs typeface="Archivo Narrow"/>
                <a:sym typeface="Archivo Narrow"/>
              </a:defRPr>
            </a:lvl4pPr>
            <a:lvl5pPr marL="2286000" marR="0" lvl="4" indent="-342900" algn="ctr" rtl="0">
              <a:lnSpc>
                <a:spcPct val="100000"/>
              </a:lnSpc>
              <a:spcBef>
                <a:spcPts val="0"/>
              </a:spcBef>
              <a:spcAft>
                <a:spcPts val="0"/>
              </a:spcAft>
              <a:buSzPts val="2800"/>
              <a:buFont typeface="Archivo Narrow"/>
              <a:buNone/>
              <a:defRPr sz="2800" b="0" i="0" u="none" strike="noStrike" cap="none">
                <a:solidFill>
                  <a:srgbClr val="000000"/>
                </a:solidFill>
                <a:latin typeface="Archivo Narrow"/>
                <a:ea typeface="Archivo Narrow"/>
                <a:cs typeface="Archivo Narrow"/>
                <a:sym typeface="Archivo Narrow"/>
              </a:defRPr>
            </a:lvl5pPr>
            <a:lvl6pPr marL="2743200" marR="0" lvl="5" indent="-342900" algn="ctr" rtl="0">
              <a:lnSpc>
                <a:spcPct val="100000"/>
              </a:lnSpc>
              <a:spcBef>
                <a:spcPts val="0"/>
              </a:spcBef>
              <a:spcAft>
                <a:spcPts val="0"/>
              </a:spcAft>
              <a:buSzPts val="2800"/>
              <a:buFont typeface="Archivo Narrow"/>
              <a:buNone/>
              <a:defRPr sz="2800" b="0" i="0" u="none" strike="noStrike" cap="none">
                <a:solidFill>
                  <a:srgbClr val="000000"/>
                </a:solidFill>
                <a:latin typeface="Archivo Narrow"/>
                <a:ea typeface="Archivo Narrow"/>
                <a:cs typeface="Archivo Narrow"/>
                <a:sym typeface="Archivo Narrow"/>
              </a:defRPr>
            </a:lvl6pPr>
            <a:lvl7pPr marL="3200400" marR="0" lvl="6" indent="-342900" algn="ctr" rtl="0">
              <a:lnSpc>
                <a:spcPct val="100000"/>
              </a:lnSpc>
              <a:spcBef>
                <a:spcPts val="0"/>
              </a:spcBef>
              <a:spcAft>
                <a:spcPts val="0"/>
              </a:spcAft>
              <a:buSzPts val="2800"/>
              <a:buFont typeface="Archivo Narrow"/>
              <a:buNone/>
              <a:defRPr sz="2800" b="0" i="0" u="none" strike="noStrike" cap="none">
                <a:solidFill>
                  <a:srgbClr val="000000"/>
                </a:solidFill>
                <a:latin typeface="Archivo Narrow"/>
                <a:ea typeface="Archivo Narrow"/>
                <a:cs typeface="Archivo Narrow"/>
                <a:sym typeface="Archivo Narrow"/>
              </a:defRPr>
            </a:lvl7pPr>
            <a:lvl8pPr marL="3657600" marR="0" lvl="7" indent="-342900" algn="ctr" rtl="0">
              <a:lnSpc>
                <a:spcPct val="100000"/>
              </a:lnSpc>
              <a:spcBef>
                <a:spcPts val="0"/>
              </a:spcBef>
              <a:spcAft>
                <a:spcPts val="0"/>
              </a:spcAft>
              <a:buSzPts val="2800"/>
              <a:buFont typeface="Archivo Narrow"/>
              <a:buNone/>
              <a:defRPr sz="2800" b="0" i="0" u="none" strike="noStrike" cap="none">
                <a:solidFill>
                  <a:srgbClr val="000000"/>
                </a:solidFill>
                <a:latin typeface="Archivo Narrow"/>
                <a:ea typeface="Archivo Narrow"/>
                <a:cs typeface="Archivo Narrow"/>
                <a:sym typeface="Archivo Narrow"/>
              </a:defRPr>
            </a:lvl8pPr>
            <a:lvl9pPr marL="4114800" marR="0" lvl="8" indent="-342900" algn="ctr" rtl="0">
              <a:lnSpc>
                <a:spcPct val="100000"/>
              </a:lnSpc>
              <a:spcBef>
                <a:spcPts val="0"/>
              </a:spcBef>
              <a:spcAft>
                <a:spcPts val="0"/>
              </a:spcAft>
              <a:buSzPts val="2800"/>
              <a:buFont typeface="Archivo Narrow"/>
              <a:buNone/>
              <a:defRPr sz="2800" b="0" i="0" u="none" strike="noStrike" cap="none">
                <a:solidFill>
                  <a:srgbClr val="000000"/>
                </a:solidFill>
                <a:latin typeface="Archivo Narrow"/>
                <a:ea typeface="Archivo Narrow"/>
                <a:cs typeface="Archivo Narrow"/>
                <a:sym typeface="Archivo Narrow"/>
              </a:defRPr>
            </a:lvl9pPr>
          </a:lstStyle>
          <a:p>
            <a:pPr marL="0" indent="0" algn="l">
              <a:defRPr sz="1400" b="1">
                <a:solidFill>
                  <a:srgbClr val="003366"/>
                </a:solidFill>
                <a:latin typeface="Calibri"/>
              </a:defRPr>
            </a:pPr>
            <a:r>
              <a:rPr dirty="0"/>
              <a:t>Under the guidance of:</a:t>
            </a:r>
          </a:p>
          <a:p>
            <a:pPr algn="l">
              <a:defRPr sz="1500" b="1">
                <a:solidFill>
                  <a:srgbClr val="000000"/>
                </a:solidFill>
                <a:latin typeface="Calibri"/>
              </a:defRPr>
            </a:pPr>
            <a:r>
              <a:rPr dirty="0"/>
              <a:t>Dr. Sujatha A K</a:t>
            </a:r>
          </a:p>
          <a:p>
            <a:pPr algn="l">
              <a:defRPr sz="1300" b="0">
                <a:solidFill>
                  <a:srgbClr val="3C3C3C"/>
                </a:solidFill>
                <a:latin typeface="Calibri"/>
              </a:defRPr>
            </a:pPr>
            <a:r>
              <a:rPr dirty="0"/>
              <a:t>Assistant Professor, Dept. of AI &amp; DS </a:t>
            </a:r>
            <a:r>
              <a:rPr dirty="0" err="1"/>
              <a:t>Engg</a:t>
            </a:r>
            <a:r>
              <a:rPr dirty="0"/>
              <a:t>.</a:t>
            </a:r>
          </a:p>
          <a:p>
            <a:pPr algn="l">
              <a:defRPr sz="1200" b="0">
                <a:solidFill>
                  <a:srgbClr val="505050"/>
                </a:solidFill>
                <a:latin typeface="Calibri"/>
              </a:defRPr>
            </a:pPr>
            <a:r>
              <a:rPr dirty="0"/>
              <a:t>Project Head: Mr. Martin Dsouza (Project PHEX '27)</a:t>
            </a:r>
          </a:p>
        </p:txBody>
      </p:sp>
      <p:sp>
        <p:nvSpPr>
          <p:cNvPr id="2" name="TextBox 1">
            <a:extLst>
              <a:ext uri="{FF2B5EF4-FFF2-40B4-BE49-F238E27FC236}">
                <a16:creationId xmlns:a16="http://schemas.microsoft.com/office/drawing/2014/main" id="{B875BFA1-87C2-4ADD-B50B-F91F82773AAE}"/>
              </a:ext>
            </a:extLst>
          </p:cNvPr>
          <p:cNvSpPr txBox="1"/>
          <p:nvPr/>
        </p:nvSpPr>
        <p:spPr>
          <a:xfrm>
            <a:off x="5860999" y="5339744"/>
            <a:ext cx="3107184" cy="307777"/>
          </a:xfrm>
          <a:prstGeom prst="rect">
            <a:avLst/>
          </a:prstGeom>
          <a:noFill/>
        </p:spPr>
        <p:txBody>
          <a:bodyPr wrap="square" rtlCol="0">
            <a:spAutoFit/>
          </a:bodyPr>
          <a:lstStyle/>
          <a:p>
            <a:pPr algn="ctr">
              <a:defRPr sz="1400" b="1">
                <a:solidFill>
                  <a:srgbClr val="003366"/>
                </a:solidFill>
                <a:latin typeface="Calibri"/>
              </a:defRPr>
            </a:pPr>
            <a:r>
              <a:t>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Shape 117"/>
          <p:cNvSpPr txBox="1">
            <a:spLocks noGrp="1"/>
          </p:cNvSpPr>
          <p:nvPr>
            <p:ph type="title"/>
          </p:nvPr>
        </p:nvSpPr>
        <p:spPr>
          <a:xfrm>
            <a:off x="1023255" y="945933"/>
            <a:ext cx="7743729"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Contents</a:t>
            </a:r>
            <a:endParaRPr dirty="0">
              <a:latin typeface="Times New Roman" panose="02020603050405020304" pitchFamily="18" charset="0"/>
              <a:cs typeface="Times New Roman" panose="02020603050405020304" pitchFamily="18" charset="0"/>
            </a:endParaRPr>
          </a:p>
        </p:txBody>
      </p:sp>
      <p:sp>
        <p:nvSpPr>
          <p:cNvPr id="118" name="Shape 118"/>
          <p:cNvSpPr txBox="1">
            <a:spLocks noGrp="1"/>
          </p:cNvSpPr>
          <p:nvPr>
            <p:ph type="body" idx="1"/>
          </p:nvPr>
        </p:nvSpPr>
        <p:spPr>
          <a:xfrm>
            <a:off x="1175656" y="1709433"/>
            <a:ext cx="6030685" cy="4555200"/>
          </a:xfrm>
          <a:prstGeom prst="rect">
            <a:avLst/>
          </a:prstGeom>
        </p:spPr>
        <p:txBody>
          <a:bodyPr spcFirstLastPara="1" wrap="square" lIns="91425" tIns="91425" rIns="91425" bIns="91425" anchor="t" anchorCtr="0">
            <a:noAutofit/>
          </a:bodyPr>
          <a:lstStyle/>
          <a:p>
            <a:pPr lvl="0" indent="-457200">
              <a:spcBef>
                <a:spcPts val="0"/>
              </a:spcBef>
              <a:spcAft>
                <a:spcPts val="800"/>
              </a:spcAft>
              <a:buFont typeface="+mj-lt"/>
              <a:buAutoNum type="arabicPeriod"/>
            </a:pPr>
            <a:r>
              <a:rPr sz="1400" b="1">
                <a:solidFill>
                  <a:srgbClr val="102C57"/>
                </a:solidFill>
                <a:latin typeface="Calibri"/>
              </a:rPr>
              <a:t>1. Introduction &amp; Project Context: </a:t>
            </a:r>
            <a:r>
              <a:rPr sz="1400" b="0">
                <a:solidFill>
                  <a:srgbClr val="282828"/>
                </a:solidFill>
                <a:latin typeface="Calibri"/>
              </a:rPr>
              <a:t>HEV supervisory control challenges and predictive PoC motivation</a:t>
            </a:r>
          </a:p>
          <a:p>
            <a:pPr>
              <a:spcAft>
                <a:spcPts val="800"/>
              </a:spcAft>
            </a:pPr>
            <a:r>
              <a:rPr sz="1400" b="1">
                <a:solidFill>
                  <a:srgbClr val="102C57"/>
                </a:solidFill>
                <a:latin typeface="Calibri"/>
              </a:rPr>
              <a:t>2. Literature Survey: </a:t>
            </a:r>
            <a:r>
              <a:rPr sz="1400" b="0">
                <a:solidFill>
                  <a:srgbClr val="282828"/>
                </a:solidFill>
                <a:latin typeface="Calibri"/>
              </a:rPr>
              <a:t>Comprehensive review of HEV control strategies and ML forecasting algorithms</a:t>
            </a:r>
          </a:p>
          <a:p>
            <a:pPr>
              <a:spcAft>
                <a:spcPts val="800"/>
              </a:spcAft>
            </a:pPr>
            <a:r>
              <a:rPr sz="1400" b="1">
                <a:solidFill>
                  <a:srgbClr val="102C57"/>
                </a:solidFill>
                <a:latin typeface="Calibri"/>
              </a:rPr>
              <a:t>3. Objectives &amp; Scope: </a:t>
            </a:r>
            <a:r>
              <a:rPr sz="1400" b="0">
                <a:solidFill>
                  <a:srgbClr val="282828"/>
                </a:solidFill>
                <a:latin typeface="Calibri"/>
              </a:rPr>
              <a:t>Defined research goals, technical boundaries, and contribution focus</a:t>
            </a:r>
          </a:p>
          <a:p>
            <a:pPr>
              <a:spcAft>
                <a:spcPts val="800"/>
              </a:spcAft>
            </a:pPr>
            <a:r>
              <a:rPr sz="1400" b="1">
                <a:solidFill>
                  <a:srgbClr val="102C57"/>
                </a:solidFill>
                <a:latin typeface="Calibri"/>
              </a:rPr>
              <a:t>4. Graphical Abstract: </a:t>
            </a:r>
            <a:r>
              <a:rPr sz="1400" b="0">
                <a:solidFill>
                  <a:srgbClr val="282828"/>
                </a:solidFill>
                <a:latin typeface="Calibri"/>
              </a:rPr>
              <a:t>System architecture, multi-layer data flow, and team-vs-individual breakdown</a:t>
            </a:r>
          </a:p>
          <a:p>
            <a:pPr>
              <a:spcAft>
                <a:spcPts val="800"/>
              </a:spcAft>
            </a:pPr>
            <a:r>
              <a:rPr sz="1400" b="1">
                <a:solidFill>
                  <a:srgbClr val="102C57"/>
                </a:solidFill>
                <a:latin typeface="Calibri"/>
              </a:rPr>
              <a:t>5. Proposed Methodology: </a:t>
            </a:r>
            <a:r>
              <a:rPr sz="1400" b="0">
                <a:solidFill>
                  <a:srgbClr val="282828"/>
                </a:solidFill>
                <a:latin typeface="Calibri"/>
              </a:rPr>
              <a:t>Data preprocessing, Random Forest demand forecasting, and Hybrid Decision Engine</a:t>
            </a:r>
          </a:p>
          <a:p>
            <a:pPr>
              <a:spcAft>
                <a:spcPts val="800"/>
              </a:spcAft>
            </a:pPr>
            <a:r>
              <a:rPr sz="1400" b="1">
                <a:solidFill>
                  <a:srgbClr val="102C57"/>
                </a:solidFill>
                <a:latin typeface="Calibri"/>
              </a:rPr>
              <a:t>6. Results and Discussion: </a:t>
            </a:r>
            <a:r>
              <a:rPr sz="1400" b="0">
                <a:solidFill>
                  <a:srgbClr val="282828"/>
                </a:solidFill>
                <a:latin typeface="Calibri"/>
              </a:rPr>
              <a:t>Forecasting accuracy, confidence distribution, mode transitions, and KPI validation</a:t>
            </a:r>
          </a:p>
          <a:p>
            <a:pPr>
              <a:spcAft>
                <a:spcPts val="800"/>
              </a:spcAft>
            </a:pPr>
            <a:r>
              <a:rPr sz="1400" b="1">
                <a:solidFill>
                  <a:srgbClr val="102C57"/>
                </a:solidFill>
                <a:latin typeface="Calibri"/>
              </a:rPr>
              <a:t>7. Conclusions &amp; Future Scope: </a:t>
            </a:r>
            <a:r>
              <a:rPr sz="1400" b="0">
                <a:solidFill>
                  <a:srgbClr val="282828"/>
                </a:solidFill>
                <a:latin typeface="Calibri"/>
              </a:rPr>
              <a:t>Feasibility demonstration, engineering learnings, and embedded hardware roadmap</a:t>
            </a:r>
          </a:p>
          <a:p>
            <a:pPr>
              <a:spcAft>
                <a:spcPts val="800"/>
              </a:spcAft>
            </a:pPr>
            <a:r>
              <a:rPr sz="1400" b="1">
                <a:solidFill>
                  <a:srgbClr val="102C57"/>
                </a:solidFill>
                <a:latin typeface="Calibri"/>
              </a:rPr>
              <a:t>8. References &amp; Q&amp;A: </a:t>
            </a:r>
            <a:r>
              <a:rPr sz="1400" b="0">
                <a:solidFill>
                  <a:srgbClr val="282828"/>
                </a:solidFill>
                <a:latin typeface="Calibri"/>
              </a:rPr>
              <a:t>Authoritative literature citations and defense discussion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428" y="593367"/>
            <a:ext cx="8015871" cy="763500"/>
          </a:xfrm>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Text Placeholder 2"/>
          <p:cNvSpPr>
            <a:spLocks noGrp="1"/>
          </p:cNvSpPr>
          <p:nvPr>
            <p:ph type="body" idx="1"/>
          </p:nvPr>
        </p:nvSpPr>
        <p:spPr>
          <a:xfrm>
            <a:off x="816428" y="1356867"/>
            <a:ext cx="8015872" cy="4907766"/>
          </a:xfrm>
        </p:spPr>
        <p:txBody>
          <a:bodyPr wrap="square"/>
          <a:lstStyle/>
          <a:p>
            <a:pPr algn="just">
              <a:lnSpc>
                <a:spcPct val="150000"/>
              </a:lnSpc>
              <a:spcAft>
                <a:spcPts val="800"/>
              </a:spcAft>
            </a:pPr>
            <a:r>
              <a:rPr sz="1400" b="1">
                <a:solidFill>
                  <a:srgbClr val="102C57"/>
                </a:solidFill>
                <a:latin typeface="Calibri"/>
              </a:rPr>
              <a:t>HEV Powertrain Dynamics: </a:t>
            </a:r>
            <a:r>
              <a:rPr sz="1400" b="0">
                <a:solidFill>
                  <a:srgbClr val="282828"/>
                </a:solidFill>
                <a:latin typeface="Calibri"/>
              </a:rPr>
              <a:t>Hybrid Electric Vehicles combine Internal Combustion Engines (ICE), Electric Motors (EM), and high-voltage battery packs to minimize emissions and maximize fuel efficiency.</a:t>
            </a:r>
          </a:p>
          <a:p>
            <a:pPr>
              <a:spcAft>
                <a:spcPts val="800"/>
              </a:spcAft>
            </a:pPr>
            <a:r>
              <a:rPr sz="1400" b="1">
                <a:solidFill>
                  <a:srgbClr val="102C57"/>
                </a:solidFill>
                <a:latin typeface="Calibri"/>
              </a:rPr>
              <a:t>Supervisory EMS Challenge: </a:t>
            </a:r>
            <a:r>
              <a:rPr sz="1400" b="0">
                <a:solidFill>
                  <a:srgbClr val="282828"/>
                </a:solidFill>
                <a:latin typeface="Calibri"/>
              </a:rPr>
              <a:t>The Energy Management System (EMS) determines the real-time torque and power split. Conventional rule-based EMS controllers operate purely reactively based on instantaneous telemetry.</a:t>
            </a:r>
          </a:p>
          <a:p>
            <a:pPr>
              <a:spcAft>
                <a:spcPts val="800"/>
              </a:spcAft>
            </a:pPr>
            <a:r>
              <a:rPr sz="1400" b="1">
                <a:solidFill>
                  <a:srgbClr val="102C57"/>
                </a:solidFill>
                <a:latin typeface="Calibri"/>
              </a:rPr>
              <a:t>The Need for Predictive Control: </a:t>
            </a:r>
            <a:r>
              <a:rPr sz="1400" b="0">
                <a:solidFill>
                  <a:srgbClr val="282828"/>
                </a:solidFill>
                <a:latin typeface="Calibri"/>
              </a:rPr>
              <a:t>Reactive controllers cannot anticipate upcoming route topography, traffic congestion, or rapid driver acceleration, leading to suboptimal battery depletion and engine low-efficiency operation.</a:t>
            </a:r>
          </a:p>
          <a:p>
            <a:pPr>
              <a:spcAft>
                <a:spcPts val="800"/>
              </a:spcAft>
            </a:pPr>
            <a:r>
              <a:rPr sz="1400" b="1">
                <a:solidFill>
                  <a:srgbClr val="102C57"/>
                </a:solidFill>
                <a:latin typeface="Calibri"/>
              </a:rPr>
              <a:t>Project PHEX '27 Proof-of-Concept: </a:t>
            </a:r>
            <a:r>
              <a:rPr sz="1400" b="0">
                <a:solidFill>
                  <a:srgbClr val="282828"/>
                </a:solidFill>
                <a:latin typeface="Calibri"/>
              </a:rPr>
              <a:t>An academic research initiative at CHRIST University to develop a simulation-based Proof-of-Concept predictive EMS integrating Machine Learning with supervisory control.</a:t>
            </a:r>
          </a:p>
          <a:p>
            <a:pPr>
              <a:spcAft>
                <a:spcPts val="800"/>
              </a:spcAft>
            </a:pPr>
            <a:r>
              <a:rPr sz="1400" b="1">
                <a:solidFill>
                  <a:srgbClr val="102C57"/>
                </a:solidFill>
                <a:latin typeface="Calibri"/>
              </a:rPr>
              <a:t>Scope Clarification: </a:t>
            </a:r>
            <a:r>
              <a:rPr sz="1400" b="0">
                <a:solidFill>
                  <a:srgbClr val="282828"/>
                </a:solidFill>
                <a:latin typeface="Calibri"/>
              </a:rPr>
              <a:t>This project is a rigorously validated software and simulation-driven Proof-of-Concept; it establishes the algorithmic foundation for future embedded ECU/hardware implementation.</a:t>
            </a:r>
          </a:p>
        </p:txBody>
      </p:sp>
    </p:spTree>
    <p:extLst>
      <p:ext uri="{BB962C8B-B14F-4D97-AF65-F5344CB8AC3E}">
        <p14:creationId xmlns:p14="http://schemas.microsoft.com/office/powerpoint/2010/main" val="1745977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805542" y="593367"/>
            <a:ext cx="8026757"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t>Literature Survey</a:t>
            </a:r>
            <a:endParaRPr dirty="0"/>
          </a:p>
        </p:txBody>
      </p:sp>
      <p:sp>
        <p:nvSpPr>
          <p:cNvPr id="124" name="Shape 124"/>
          <p:cNvSpPr txBox="1">
            <a:spLocks noGrp="1"/>
          </p:cNvSpPr>
          <p:nvPr>
            <p:ph type="body" idx="1"/>
          </p:nvPr>
        </p:nvSpPr>
        <p:spPr>
          <a:xfrm>
            <a:off x="805542" y="1536633"/>
            <a:ext cx="8026758" cy="4555200"/>
          </a:xfrm>
          <a:prstGeom prst="rect">
            <a:avLst/>
          </a:prstGeom>
        </p:spPr>
        <p:txBody>
          <a:bodyPr spcFirstLastPara="1" wrap="square" lIns="91425" tIns="91425" rIns="91425" bIns="91425" anchor="t" anchorCtr="0">
            <a:noAutofit/>
          </a:bodyPr>
          <a:lstStyle/>
          <a:p>
            <a:pPr marL="342900" indent="-342900">
              <a:spcAft>
                <a:spcPts val="800"/>
              </a:spcAft>
            </a:pPr>
            <a:r>
              <a:rPr sz="1500" b="1" dirty="0">
                <a:solidFill>
                  <a:srgbClr val="102C57"/>
                </a:solidFill>
                <a:latin typeface="Calibri"/>
              </a:rPr>
              <a:t>Domain 1: HEV Supervisory Control &amp; Optimization: </a:t>
            </a:r>
            <a:r>
              <a:rPr sz="1500" b="0" dirty="0">
                <a:solidFill>
                  <a:srgbClr val="282828"/>
                </a:solidFill>
                <a:latin typeface="Calibri"/>
              </a:rPr>
              <a:t>Study of global optimization (Dynamic Programming, </a:t>
            </a:r>
            <a:r>
              <a:rPr sz="1500" b="0" dirty="0" err="1">
                <a:solidFill>
                  <a:srgbClr val="282828"/>
                </a:solidFill>
                <a:latin typeface="Calibri"/>
              </a:rPr>
              <a:t>Pontryagin's</a:t>
            </a:r>
            <a:r>
              <a:rPr sz="1500" b="0" dirty="0">
                <a:solidFill>
                  <a:srgbClr val="282828"/>
                </a:solidFill>
                <a:latin typeface="Calibri"/>
              </a:rPr>
              <a:t> Minimum Principle) versus real-time instantaneous strategies (ECMS and Rule-Based Controllers).</a:t>
            </a:r>
          </a:p>
          <a:p>
            <a:pPr>
              <a:spcAft>
                <a:spcPts val="800"/>
              </a:spcAft>
            </a:pPr>
            <a:r>
              <a:rPr sz="1500" b="1" dirty="0">
                <a:solidFill>
                  <a:srgbClr val="102C57"/>
                </a:solidFill>
                <a:latin typeface="Calibri"/>
              </a:rPr>
              <a:t>Domain 2: Machine Learning for Time-Series Vehicle Forecasting: </a:t>
            </a:r>
            <a:r>
              <a:rPr sz="1500" b="0" dirty="0">
                <a:solidFill>
                  <a:srgbClr val="282828"/>
                </a:solidFill>
                <a:latin typeface="Calibri"/>
              </a:rPr>
              <a:t>Investigation of regression techniques (Random Forest, Gradient Boosting, </a:t>
            </a:r>
            <a:r>
              <a:rPr sz="1500" b="0" dirty="0" err="1">
                <a:solidFill>
                  <a:srgbClr val="282828"/>
                </a:solidFill>
                <a:latin typeface="Calibri"/>
              </a:rPr>
              <a:t>XGBoost</a:t>
            </a:r>
            <a:r>
              <a:rPr sz="1500" b="0" dirty="0">
                <a:solidFill>
                  <a:srgbClr val="282828"/>
                </a:solidFill>
                <a:latin typeface="Calibri"/>
              </a:rPr>
              <a:t>) and rolling-window lag features for predicting short-term speed, acceleration, and power demand.</a:t>
            </a:r>
          </a:p>
          <a:p>
            <a:pPr>
              <a:spcAft>
                <a:spcPts val="800"/>
              </a:spcAft>
            </a:pPr>
            <a:r>
              <a:rPr sz="1500" b="1" dirty="0">
                <a:solidFill>
                  <a:srgbClr val="102C57"/>
                </a:solidFill>
                <a:latin typeface="Calibri"/>
              </a:rPr>
              <a:t>Domain 3: Context-Aware Telemetry &amp; Route Optimization: </a:t>
            </a:r>
            <a:r>
              <a:rPr sz="1500" b="0" dirty="0">
                <a:solidFill>
                  <a:srgbClr val="282828"/>
                </a:solidFill>
                <a:latin typeface="Calibri"/>
              </a:rPr>
              <a:t>Analysis of traffic-density modeling, route segmentation (Urban, Suburb, Highway), and look-ahead State-of-Charge (SOC) planning across standard drive cycles (WLTP, NEDC).</a:t>
            </a:r>
          </a:p>
        </p:txBody>
      </p:sp>
    </p:spTree>
    <p:extLst>
      <p:ext uri="{BB962C8B-B14F-4D97-AF65-F5344CB8AC3E}">
        <p14:creationId xmlns:p14="http://schemas.microsoft.com/office/powerpoint/2010/main" val="2437637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Literature Survey</a:t>
            </a:r>
            <a:endParaRPr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2F3BD9A5-5F54-4EAE-AD94-879AA0F803BC}"/>
              </a:ext>
            </a:extLst>
          </p:cNvPr>
          <p:cNvGraphicFramePr>
            <a:graphicFrameLocks noGrp="1"/>
          </p:cNvGraphicFramePr>
          <p:nvPr>
            <p:extLst>
              <p:ext uri="{D42A27DB-BD31-4B8C-83A1-F6EECF244321}">
                <p14:modId xmlns:p14="http://schemas.microsoft.com/office/powerpoint/2010/main" val="4140749503"/>
              </p:ext>
            </p:extLst>
          </p:nvPr>
        </p:nvGraphicFramePr>
        <p:xfrm>
          <a:off x="466565" y="1199666"/>
          <a:ext cx="8210870" cy="3030276"/>
        </p:xfrm>
        <a:graphic>
          <a:graphicData uri="http://schemas.openxmlformats.org/drawingml/2006/table">
            <a:tbl>
              <a:tblPr firstRow="1" bandRow="1">
                <a:tableStyleId>{5940675A-B579-460E-94D1-54222C63F5DA}</a:tableStyleId>
              </a:tblPr>
              <a:tblGrid>
                <a:gridCol w="506016">
                  <a:extLst>
                    <a:ext uri="{9D8B030D-6E8A-4147-A177-3AD203B41FA5}">
                      <a16:colId xmlns:a16="http://schemas.microsoft.com/office/drawing/2014/main" val="40357115"/>
                    </a:ext>
                  </a:extLst>
                </a:gridCol>
                <a:gridCol w="1901248">
                  <a:extLst>
                    <a:ext uri="{9D8B030D-6E8A-4147-A177-3AD203B41FA5}">
                      <a16:colId xmlns:a16="http://schemas.microsoft.com/office/drawing/2014/main" val="3646413237"/>
                    </a:ext>
                  </a:extLst>
                </a:gridCol>
                <a:gridCol w="805542">
                  <a:extLst>
                    <a:ext uri="{9D8B030D-6E8A-4147-A177-3AD203B41FA5}">
                      <a16:colId xmlns:a16="http://schemas.microsoft.com/office/drawing/2014/main" val="1731675184"/>
                    </a:ext>
                  </a:extLst>
                </a:gridCol>
                <a:gridCol w="4998064">
                  <a:extLst>
                    <a:ext uri="{9D8B030D-6E8A-4147-A177-3AD203B41FA5}">
                      <a16:colId xmlns:a16="http://schemas.microsoft.com/office/drawing/2014/main" val="1919390922"/>
                    </a:ext>
                  </a:extLst>
                </a:gridCol>
              </a:tblGrid>
              <a:tr h="524630">
                <a:tc>
                  <a:txBody>
                    <a:bodyPr/>
                    <a:lstStyle/>
                    <a:p>
                      <a:r>
                        <a:t>No</a:t>
                      </a:r>
                    </a:p>
                  </a:txBody>
                  <a:tcPr anchor="ctr" anchorCtr="1">
                    <a:solidFill>
                      <a:srgbClr val="0B5394"/>
                    </a:solidFill>
                  </a:tcPr>
                </a:tc>
                <a:tc>
                  <a:txBody>
                    <a:bodyPr/>
                    <a:lstStyle/>
                    <a:p>
                      <a:r>
                        <a:t>Authors</a:t>
                      </a:r>
                    </a:p>
                  </a:txBody>
                  <a:tcPr anchor="ctr" anchorCtr="1">
                    <a:solidFill>
                      <a:srgbClr val="0B5394"/>
                    </a:solidFill>
                  </a:tcPr>
                </a:tc>
                <a:tc>
                  <a:txBody>
                    <a:bodyPr/>
                    <a:lstStyle/>
                    <a:p>
                      <a:r>
                        <a:t>Year</a:t>
                      </a:r>
                    </a:p>
                  </a:txBody>
                  <a:tcPr anchor="ctr" anchorCtr="1">
                    <a:solidFill>
                      <a:srgbClr val="0B5394"/>
                    </a:solidFill>
                  </a:tcPr>
                </a:tc>
                <a:tc>
                  <a:txBody>
                    <a:bodyPr/>
                    <a:lstStyle/>
                    <a:p>
                      <a:r>
                        <a:t>Title</a:t>
                      </a:r>
                    </a:p>
                  </a:txBody>
                  <a:tcPr anchor="ctr" anchorCtr="1">
                    <a:solidFill>
                      <a:srgbClr val="0B5394"/>
                    </a:solidFill>
                  </a:tcPr>
                </a:tc>
                <a:extLst>
                  <a:ext uri="{0D108BD9-81ED-4DB2-BD59-A6C34878D82A}">
                    <a16:rowId xmlns:a16="http://schemas.microsoft.com/office/drawing/2014/main" val="1944199854"/>
                  </a:ext>
                </a:extLst>
              </a:tr>
              <a:tr h="0">
                <a:tc>
                  <a:txBody>
                    <a:bodyPr/>
                    <a:lstStyle/>
                    <a:p>
                      <a:r>
                        <a:t>1</a:t>
                      </a:r>
                    </a:p>
                  </a:txBody>
                  <a:tcPr/>
                </a:tc>
                <a:tc>
                  <a:txBody>
                    <a:bodyPr/>
                    <a:lstStyle/>
                    <a:p>
                      <a:r>
                        <a:t>A. Sciarretta &amp; L. Guzzella</a:t>
                      </a:r>
                    </a:p>
                  </a:txBody>
                  <a:tcPr/>
                </a:tc>
                <a:tc>
                  <a:txBody>
                    <a:bodyPr/>
                    <a:lstStyle/>
                    <a:p>
                      <a:r>
                        <a:t>2007</a:t>
                      </a:r>
                    </a:p>
                  </a:txBody>
                  <a:tcPr/>
                </a:tc>
                <a:tc>
                  <a:txBody>
                    <a:bodyPr/>
                    <a:lstStyle/>
                    <a:p>
                      <a:r>
                        <a:t>Control of hybrid electric vehicles</a:t>
                      </a:r>
                    </a:p>
                  </a:txBody>
                  <a:tcPr/>
                </a:tc>
                <a:extLst>
                  <a:ext uri="{0D108BD9-81ED-4DB2-BD59-A6C34878D82A}">
                    <a16:rowId xmlns:a16="http://schemas.microsoft.com/office/drawing/2014/main" val="3520730805"/>
                  </a:ext>
                </a:extLst>
              </a:tr>
              <a:tr h="524630">
                <a:tc gridSpan="2">
                  <a:txBody>
                    <a:bodyPr/>
                    <a:lstStyle/>
                    <a:p>
                      <a:r>
                        <a:t>Key Points</a:t>
                      </a:r>
                    </a:p>
                  </a:txBody>
                  <a:tcPr anchor="ctr">
                    <a:solidFill>
                      <a:srgbClr val="0B5394"/>
                    </a:solidFill>
                  </a:tcPr>
                </a:tc>
                <a:tc hMerge="1">
                  <a:txBody>
                    <a:bodyPr/>
                    <a:lstStyle/>
                    <a:p>
                      <a:r>
                        <a:t>Supervisory control principles; Dynamic Programming benchmarks; Equivalent Consumption Minimization Strategy (ECMS); Heuristic rule design.</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4030142157"/>
                  </a:ext>
                </a:extLst>
              </a:tr>
              <a:tr h="524630">
                <a:tc gridSpan="2">
                  <a:txBody>
                    <a:bodyPr/>
                    <a:lstStyle/>
                    <a:p>
                      <a:r>
                        <a:t>Gaps / Scope</a:t>
                      </a:r>
                    </a:p>
                  </a:txBody>
                  <a:tcPr anchor="ctr">
                    <a:solidFill>
                      <a:srgbClr val="0B5394"/>
                    </a:solidFill>
                  </a:tcPr>
                </a:tc>
                <a:tc hMerge="1">
                  <a:txBody>
                    <a:bodyPr/>
                    <a:lstStyle/>
                    <a:p>
                      <a:r>
                        <a:t>Standard rule-based logic is purely reactive; lacks integration with predictive traffic telemetry and short-horizon demand forecasting.</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1909851112"/>
                  </a:ext>
                </a:extLst>
              </a:tr>
              <a:tr h="524630">
                <a:tc gridSpan="2">
                  <a:txBody>
                    <a:bodyPr/>
                    <a:lstStyle/>
                    <a:p>
                      <a:r>
                        <a:t>Inheritance</a:t>
                      </a:r>
                    </a:p>
                  </a:txBody>
                  <a:tcPr anchor="ctr">
                    <a:solidFill>
                      <a:srgbClr val="0B5394"/>
                    </a:solidFill>
                  </a:tcPr>
                </a:tc>
                <a:tc hMerge="1">
                  <a:txBody>
                    <a:bodyPr/>
                    <a:lstStyle/>
                    <a:p>
                      <a:r>
                        <a:t>Adopted fundamental HEV energy-flow equations, brake-specific fuel consumption (BSFC) efficiency curves, and deterministic rule structures.</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640272646"/>
                  </a:ext>
                </a:extLst>
              </a:tr>
              <a:tr h="413596">
                <a:tc gridSpan="2">
                  <a:txBody>
                    <a:bodyPr/>
                    <a:lstStyle/>
                    <a:p>
                      <a:r>
                        <a:t>Publisher / Source</a:t>
                      </a:r>
                    </a:p>
                  </a:txBody>
                  <a:tcPr anchor="ctr">
                    <a:solidFill>
                      <a:srgbClr val="0B5394"/>
                    </a:solidFill>
                  </a:tcPr>
                </a:tc>
                <a:tc hMerge="1">
                  <a:txBody>
                    <a:bodyPr/>
                    <a:lstStyle/>
                    <a:p>
                      <a:r>
                        <a:t>IEEE Control Systems Magazine, vol. 27, no. 2, pp. 60–70, Apr. 2007.</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3918507929"/>
                  </a:ext>
                </a:extLst>
              </a:tr>
            </a:tbl>
          </a:graphicData>
        </a:graphic>
      </p:graphicFrame>
    </p:spTree>
    <p:extLst>
      <p:ext uri="{BB962C8B-B14F-4D97-AF65-F5344CB8AC3E}">
        <p14:creationId xmlns:p14="http://schemas.microsoft.com/office/powerpoint/2010/main" val="700331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Literature Survey</a:t>
            </a:r>
            <a:endParaRPr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2F3BD9A5-5F54-4EAE-AD94-879AA0F803BC}"/>
              </a:ext>
            </a:extLst>
          </p:cNvPr>
          <p:cNvGraphicFramePr>
            <a:graphicFrameLocks noGrp="1"/>
          </p:cNvGraphicFramePr>
          <p:nvPr>
            <p:extLst>
              <p:ext uri="{D42A27DB-BD31-4B8C-83A1-F6EECF244321}">
                <p14:modId xmlns:p14="http://schemas.microsoft.com/office/powerpoint/2010/main" val="2657791499"/>
              </p:ext>
            </p:extLst>
          </p:nvPr>
        </p:nvGraphicFramePr>
        <p:xfrm>
          <a:off x="466565" y="1199666"/>
          <a:ext cx="8210870" cy="2816916"/>
        </p:xfrm>
        <a:graphic>
          <a:graphicData uri="http://schemas.openxmlformats.org/drawingml/2006/table">
            <a:tbl>
              <a:tblPr firstRow="1" bandRow="1">
                <a:tableStyleId>{5940675A-B579-460E-94D1-54222C63F5DA}</a:tableStyleId>
              </a:tblPr>
              <a:tblGrid>
                <a:gridCol w="506016">
                  <a:extLst>
                    <a:ext uri="{9D8B030D-6E8A-4147-A177-3AD203B41FA5}">
                      <a16:colId xmlns:a16="http://schemas.microsoft.com/office/drawing/2014/main" val="40357115"/>
                    </a:ext>
                  </a:extLst>
                </a:gridCol>
                <a:gridCol w="1901248">
                  <a:extLst>
                    <a:ext uri="{9D8B030D-6E8A-4147-A177-3AD203B41FA5}">
                      <a16:colId xmlns:a16="http://schemas.microsoft.com/office/drawing/2014/main" val="3646413237"/>
                    </a:ext>
                  </a:extLst>
                </a:gridCol>
                <a:gridCol w="805542">
                  <a:extLst>
                    <a:ext uri="{9D8B030D-6E8A-4147-A177-3AD203B41FA5}">
                      <a16:colId xmlns:a16="http://schemas.microsoft.com/office/drawing/2014/main" val="1731675184"/>
                    </a:ext>
                  </a:extLst>
                </a:gridCol>
                <a:gridCol w="4998064">
                  <a:extLst>
                    <a:ext uri="{9D8B030D-6E8A-4147-A177-3AD203B41FA5}">
                      <a16:colId xmlns:a16="http://schemas.microsoft.com/office/drawing/2014/main" val="1919390922"/>
                    </a:ext>
                  </a:extLst>
                </a:gridCol>
              </a:tblGrid>
              <a:tr h="524630">
                <a:tc>
                  <a:txBody>
                    <a:bodyPr/>
                    <a:lstStyle/>
                    <a:p>
                      <a:r>
                        <a:t>No</a:t>
                      </a:r>
                    </a:p>
                  </a:txBody>
                  <a:tcPr anchor="ctr" anchorCtr="1">
                    <a:solidFill>
                      <a:srgbClr val="0B5394"/>
                    </a:solidFill>
                  </a:tcPr>
                </a:tc>
                <a:tc>
                  <a:txBody>
                    <a:bodyPr/>
                    <a:lstStyle/>
                    <a:p>
                      <a:r>
                        <a:t>Authors</a:t>
                      </a:r>
                    </a:p>
                  </a:txBody>
                  <a:tcPr anchor="ctr" anchorCtr="1">
                    <a:solidFill>
                      <a:srgbClr val="0B5394"/>
                    </a:solidFill>
                  </a:tcPr>
                </a:tc>
                <a:tc>
                  <a:txBody>
                    <a:bodyPr/>
                    <a:lstStyle/>
                    <a:p>
                      <a:r>
                        <a:t>Year</a:t>
                      </a:r>
                    </a:p>
                  </a:txBody>
                  <a:tcPr anchor="ctr" anchorCtr="1">
                    <a:solidFill>
                      <a:srgbClr val="0B5394"/>
                    </a:solidFill>
                  </a:tcPr>
                </a:tc>
                <a:tc>
                  <a:txBody>
                    <a:bodyPr/>
                    <a:lstStyle/>
                    <a:p>
                      <a:r>
                        <a:t>Title</a:t>
                      </a:r>
                    </a:p>
                  </a:txBody>
                  <a:tcPr anchor="ctr" anchorCtr="1">
                    <a:solidFill>
                      <a:srgbClr val="0B5394"/>
                    </a:solidFill>
                  </a:tcPr>
                </a:tc>
                <a:extLst>
                  <a:ext uri="{0D108BD9-81ED-4DB2-BD59-A6C34878D82A}">
                    <a16:rowId xmlns:a16="http://schemas.microsoft.com/office/drawing/2014/main" val="1944199854"/>
                  </a:ext>
                </a:extLst>
              </a:tr>
              <a:tr h="0">
                <a:tc>
                  <a:txBody>
                    <a:bodyPr/>
                    <a:lstStyle/>
                    <a:p>
                      <a:r>
                        <a:t>2</a:t>
                      </a:r>
                    </a:p>
                  </a:txBody>
                  <a:tcPr/>
                </a:tc>
                <a:tc>
                  <a:txBody>
                    <a:bodyPr/>
                    <a:lstStyle/>
                    <a:p>
                      <a:r>
                        <a:t>C. C. Chan</a:t>
                      </a:r>
                    </a:p>
                  </a:txBody>
                  <a:tcPr/>
                </a:tc>
                <a:tc>
                  <a:txBody>
                    <a:bodyPr/>
                    <a:lstStyle/>
                    <a:p>
                      <a:r>
                        <a:t>2007</a:t>
                      </a:r>
                    </a:p>
                  </a:txBody>
                  <a:tcPr/>
                </a:tc>
                <a:tc>
                  <a:txBody>
                    <a:bodyPr/>
                    <a:lstStyle/>
                    <a:p>
                      <a:r>
                        <a:t>The state of the art of electric, hybrid, and fuel cell vehicles</a:t>
                      </a:r>
                    </a:p>
                  </a:txBody>
                  <a:tcPr/>
                </a:tc>
                <a:extLst>
                  <a:ext uri="{0D108BD9-81ED-4DB2-BD59-A6C34878D82A}">
                    <a16:rowId xmlns:a16="http://schemas.microsoft.com/office/drawing/2014/main" val="3520730805"/>
                  </a:ext>
                </a:extLst>
              </a:tr>
              <a:tr h="524630">
                <a:tc gridSpan="2">
                  <a:txBody>
                    <a:bodyPr/>
                    <a:lstStyle/>
                    <a:p>
                      <a:r>
                        <a:t>Key Points</a:t>
                      </a:r>
                    </a:p>
                  </a:txBody>
                  <a:tcPr anchor="ctr">
                    <a:solidFill>
                      <a:srgbClr val="0B5394"/>
                    </a:solidFill>
                  </a:tcPr>
                </a:tc>
                <a:tc hMerge="1">
                  <a:txBody>
                    <a:bodyPr/>
                    <a:lstStyle/>
                    <a:p>
                      <a:r>
                        <a:t>Comprehensive review of EV/HEV powertrain topologies (series, parallel, power-split); regenerative braking limits; battery management.</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4030142157"/>
                  </a:ext>
                </a:extLst>
              </a:tr>
              <a:tr h="524630">
                <a:tc gridSpan="2">
                  <a:txBody>
                    <a:bodyPr/>
                    <a:lstStyle/>
                    <a:p>
                      <a:r>
                        <a:t>Gaps / Scope</a:t>
                      </a:r>
                    </a:p>
                  </a:txBody>
                  <a:tcPr anchor="ctr">
                    <a:solidFill>
                      <a:srgbClr val="0B5394"/>
                    </a:solidFill>
                  </a:tcPr>
                </a:tc>
                <a:tc hMerge="1">
                  <a:txBody>
                    <a:bodyPr/>
                    <a:lstStyle/>
                    <a:p>
                      <a:r>
                        <a:t>Did not address edge AI integration, dynamic driver-behavior forecasting, or real-time traffic-aware mode adaptation.</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1909851112"/>
                  </a:ext>
                </a:extLst>
              </a:tr>
              <a:tr h="524630">
                <a:tc gridSpan="2">
                  <a:txBody>
                    <a:bodyPr/>
                    <a:lstStyle/>
                    <a:p>
                      <a:r>
                        <a:t>Inheritance</a:t>
                      </a:r>
                    </a:p>
                  </a:txBody>
                  <a:tcPr anchor="ctr">
                    <a:solidFill>
                      <a:srgbClr val="0B5394"/>
                    </a:solidFill>
                  </a:tcPr>
                </a:tc>
                <a:tc hMerge="1">
                  <a:txBody>
                    <a:bodyPr/>
                    <a:lstStyle/>
                    <a:p>
                      <a:r>
                        <a:t>Established parallel-hybrid powertrain configuration, battery SOC operating limits (20% critical floor), and regenerative power capture criteria.</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640272646"/>
                  </a:ext>
                </a:extLst>
              </a:tr>
              <a:tr h="413596">
                <a:tc gridSpan="2">
                  <a:txBody>
                    <a:bodyPr/>
                    <a:lstStyle/>
                    <a:p>
                      <a:r>
                        <a:t>Publisher / Source</a:t>
                      </a:r>
                    </a:p>
                  </a:txBody>
                  <a:tcPr anchor="ctr">
                    <a:solidFill>
                      <a:srgbClr val="0B5394"/>
                    </a:solidFill>
                  </a:tcPr>
                </a:tc>
                <a:tc hMerge="1">
                  <a:txBody>
                    <a:bodyPr/>
                    <a:lstStyle/>
                    <a:p>
                      <a:r>
                        <a:t>Proceedings of the IEEE, vol. 95, no. 4, pp. 704–718, Apr. 2007.</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3918507929"/>
                  </a:ext>
                </a:extLst>
              </a:tr>
            </a:tbl>
          </a:graphicData>
        </a:graphic>
      </p:graphicFrame>
    </p:spTree>
    <p:extLst>
      <p:ext uri="{BB962C8B-B14F-4D97-AF65-F5344CB8AC3E}">
        <p14:creationId xmlns:p14="http://schemas.microsoft.com/office/powerpoint/2010/main" val="2201953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Literature Survey</a:t>
            </a:r>
            <a:endParaRPr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2F3BD9A5-5F54-4EAE-AD94-879AA0F803BC}"/>
              </a:ext>
            </a:extLst>
          </p:cNvPr>
          <p:cNvGraphicFramePr>
            <a:graphicFrameLocks noGrp="1"/>
          </p:cNvGraphicFramePr>
          <p:nvPr>
            <p:extLst>
              <p:ext uri="{D42A27DB-BD31-4B8C-83A1-F6EECF244321}">
                <p14:modId xmlns:p14="http://schemas.microsoft.com/office/powerpoint/2010/main" val="3400798894"/>
              </p:ext>
            </p:extLst>
          </p:nvPr>
        </p:nvGraphicFramePr>
        <p:xfrm>
          <a:off x="466565" y="1199666"/>
          <a:ext cx="8210870" cy="2816916"/>
        </p:xfrm>
        <a:graphic>
          <a:graphicData uri="http://schemas.openxmlformats.org/drawingml/2006/table">
            <a:tbl>
              <a:tblPr firstRow="1" bandRow="1">
                <a:tableStyleId>{5940675A-B579-460E-94D1-54222C63F5DA}</a:tableStyleId>
              </a:tblPr>
              <a:tblGrid>
                <a:gridCol w="506016">
                  <a:extLst>
                    <a:ext uri="{9D8B030D-6E8A-4147-A177-3AD203B41FA5}">
                      <a16:colId xmlns:a16="http://schemas.microsoft.com/office/drawing/2014/main" val="40357115"/>
                    </a:ext>
                  </a:extLst>
                </a:gridCol>
                <a:gridCol w="1901248">
                  <a:extLst>
                    <a:ext uri="{9D8B030D-6E8A-4147-A177-3AD203B41FA5}">
                      <a16:colId xmlns:a16="http://schemas.microsoft.com/office/drawing/2014/main" val="3646413237"/>
                    </a:ext>
                  </a:extLst>
                </a:gridCol>
                <a:gridCol w="805542">
                  <a:extLst>
                    <a:ext uri="{9D8B030D-6E8A-4147-A177-3AD203B41FA5}">
                      <a16:colId xmlns:a16="http://schemas.microsoft.com/office/drawing/2014/main" val="1731675184"/>
                    </a:ext>
                  </a:extLst>
                </a:gridCol>
                <a:gridCol w="4998064">
                  <a:extLst>
                    <a:ext uri="{9D8B030D-6E8A-4147-A177-3AD203B41FA5}">
                      <a16:colId xmlns:a16="http://schemas.microsoft.com/office/drawing/2014/main" val="1919390922"/>
                    </a:ext>
                  </a:extLst>
                </a:gridCol>
              </a:tblGrid>
              <a:tr h="524630">
                <a:tc>
                  <a:txBody>
                    <a:bodyPr/>
                    <a:lstStyle/>
                    <a:p>
                      <a:r>
                        <a:t>No</a:t>
                      </a:r>
                    </a:p>
                  </a:txBody>
                  <a:tcPr anchor="ctr" anchorCtr="1">
                    <a:solidFill>
                      <a:srgbClr val="0B5394"/>
                    </a:solidFill>
                  </a:tcPr>
                </a:tc>
                <a:tc>
                  <a:txBody>
                    <a:bodyPr/>
                    <a:lstStyle/>
                    <a:p>
                      <a:r>
                        <a:t>Authors</a:t>
                      </a:r>
                    </a:p>
                  </a:txBody>
                  <a:tcPr anchor="ctr" anchorCtr="1">
                    <a:solidFill>
                      <a:srgbClr val="0B5394"/>
                    </a:solidFill>
                  </a:tcPr>
                </a:tc>
                <a:tc>
                  <a:txBody>
                    <a:bodyPr/>
                    <a:lstStyle/>
                    <a:p>
                      <a:r>
                        <a:t>Year</a:t>
                      </a:r>
                    </a:p>
                  </a:txBody>
                  <a:tcPr anchor="ctr" anchorCtr="1">
                    <a:solidFill>
                      <a:srgbClr val="0B5394"/>
                    </a:solidFill>
                  </a:tcPr>
                </a:tc>
                <a:tc>
                  <a:txBody>
                    <a:bodyPr/>
                    <a:lstStyle/>
                    <a:p>
                      <a:r>
                        <a:t>Title</a:t>
                      </a:r>
                    </a:p>
                  </a:txBody>
                  <a:tcPr anchor="ctr" anchorCtr="1">
                    <a:solidFill>
                      <a:srgbClr val="0B5394"/>
                    </a:solidFill>
                  </a:tcPr>
                </a:tc>
                <a:extLst>
                  <a:ext uri="{0D108BD9-81ED-4DB2-BD59-A6C34878D82A}">
                    <a16:rowId xmlns:a16="http://schemas.microsoft.com/office/drawing/2014/main" val="1944199854"/>
                  </a:ext>
                </a:extLst>
              </a:tr>
              <a:tr h="0">
                <a:tc>
                  <a:txBody>
                    <a:bodyPr/>
                    <a:lstStyle/>
                    <a:p>
                      <a:r>
                        <a:t>3</a:t>
                      </a:r>
                    </a:p>
                  </a:txBody>
                  <a:tcPr/>
                </a:tc>
                <a:tc>
                  <a:txBody>
                    <a:bodyPr/>
                    <a:lstStyle/>
                    <a:p>
                      <a:r>
                        <a:t>Leo Breiman</a:t>
                      </a:r>
                    </a:p>
                  </a:txBody>
                  <a:tcPr/>
                </a:tc>
                <a:tc>
                  <a:txBody>
                    <a:bodyPr/>
                    <a:lstStyle/>
                    <a:p>
                      <a:r>
                        <a:t>2001</a:t>
                      </a:r>
                    </a:p>
                  </a:txBody>
                  <a:tcPr/>
                </a:tc>
                <a:tc>
                  <a:txBody>
                    <a:bodyPr/>
                    <a:lstStyle/>
                    <a:p>
                      <a:r>
                        <a:t>Random Forests</a:t>
                      </a:r>
                    </a:p>
                  </a:txBody>
                  <a:tcPr/>
                </a:tc>
                <a:extLst>
                  <a:ext uri="{0D108BD9-81ED-4DB2-BD59-A6C34878D82A}">
                    <a16:rowId xmlns:a16="http://schemas.microsoft.com/office/drawing/2014/main" val="3520730805"/>
                  </a:ext>
                </a:extLst>
              </a:tr>
              <a:tr h="524630">
                <a:tc gridSpan="2">
                  <a:txBody>
                    <a:bodyPr/>
                    <a:lstStyle/>
                    <a:p>
                      <a:r>
                        <a:t>Key Points</a:t>
                      </a:r>
                    </a:p>
                  </a:txBody>
                  <a:tcPr anchor="ctr">
                    <a:solidFill>
                      <a:srgbClr val="0B5394"/>
                    </a:solidFill>
                  </a:tcPr>
                </a:tc>
                <a:tc hMerge="1">
                  <a:txBody>
                    <a:bodyPr/>
                    <a:lstStyle/>
                    <a:p>
                      <a:r>
                        <a:t>Ensemble learning method combining bootstrap aggregation (bagging) with random feature sub-selection; resilient to overfitting; non-linear modeling.</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4030142157"/>
                  </a:ext>
                </a:extLst>
              </a:tr>
              <a:tr h="524630">
                <a:tc gridSpan="2">
                  <a:txBody>
                    <a:bodyPr/>
                    <a:lstStyle/>
                    <a:p>
                      <a:r>
                        <a:t>Gaps / Scope</a:t>
                      </a:r>
                    </a:p>
                  </a:txBody>
                  <a:tcPr anchor="ctr">
                    <a:solidFill>
                      <a:srgbClr val="0B5394"/>
                    </a:solidFill>
                  </a:tcPr>
                </a:tc>
                <a:tc hMerge="1">
                  <a:txBody>
                    <a:bodyPr/>
                    <a:lstStyle/>
                    <a:p>
                      <a:r>
                        <a:t>Standard Random Forests do not inherently account for temporal autocorrelation in continuous time-series unless explicit lag features are constructed.</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1909851112"/>
                  </a:ext>
                </a:extLst>
              </a:tr>
              <a:tr h="524630">
                <a:tc gridSpan="2">
                  <a:txBody>
                    <a:bodyPr/>
                    <a:lstStyle/>
                    <a:p>
                      <a:r>
                        <a:t>Inheritance</a:t>
                      </a:r>
                    </a:p>
                  </a:txBody>
                  <a:tcPr anchor="ctr">
                    <a:solidFill>
                      <a:srgbClr val="0B5394"/>
                    </a:solidFill>
                  </a:tcPr>
                </a:tc>
                <a:tc hMerge="1">
                  <a:txBody>
                    <a:bodyPr/>
                    <a:lstStyle/>
                    <a:p>
                      <a:r>
                        <a:t>Implemented Random Forest regression as the core algorithm for predicting future vehicle speed, acceleration, and power demand.</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640272646"/>
                  </a:ext>
                </a:extLst>
              </a:tr>
              <a:tr h="413596">
                <a:tc gridSpan="2">
                  <a:txBody>
                    <a:bodyPr/>
                    <a:lstStyle/>
                    <a:p>
                      <a:r>
                        <a:t>Publisher / Source</a:t>
                      </a:r>
                    </a:p>
                  </a:txBody>
                  <a:tcPr anchor="ctr">
                    <a:solidFill>
                      <a:srgbClr val="0B5394"/>
                    </a:solidFill>
                  </a:tcPr>
                </a:tc>
                <a:tc hMerge="1">
                  <a:txBody>
                    <a:bodyPr/>
                    <a:lstStyle/>
                    <a:p>
                      <a:r>
                        <a:t>Machine Learning, vol. 45, no. 1, pp. 5–32, 2001.</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3918507929"/>
                  </a:ext>
                </a:extLst>
              </a:tr>
            </a:tbl>
          </a:graphicData>
        </a:graphic>
      </p:graphicFrame>
    </p:spTree>
    <p:extLst>
      <p:ext uri="{BB962C8B-B14F-4D97-AF65-F5344CB8AC3E}">
        <p14:creationId xmlns:p14="http://schemas.microsoft.com/office/powerpoint/2010/main" val="4201171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Literature Survey</a:t>
            </a:r>
            <a:endParaRPr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2F3BD9A5-5F54-4EAE-AD94-879AA0F803BC}"/>
              </a:ext>
            </a:extLst>
          </p:cNvPr>
          <p:cNvGraphicFramePr>
            <a:graphicFrameLocks noGrp="1"/>
          </p:cNvGraphicFramePr>
          <p:nvPr>
            <p:extLst>
              <p:ext uri="{D42A27DB-BD31-4B8C-83A1-F6EECF244321}">
                <p14:modId xmlns:p14="http://schemas.microsoft.com/office/powerpoint/2010/main" val="2882465811"/>
              </p:ext>
            </p:extLst>
          </p:nvPr>
        </p:nvGraphicFramePr>
        <p:xfrm>
          <a:off x="466565" y="1199666"/>
          <a:ext cx="8210870" cy="3030276"/>
        </p:xfrm>
        <a:graphic>
          <a:graphicData uri="http://schemas.openxmlformats.org/drawingml/2006/table">
            <a:tbl>
              <a:tblPr firstRow="1" bandRow="1">
                <a:tableStyleId>{5940675A-B579-460E-94D1-54222C63F5DA}</a:tableStyleId>
              </a:tblPr>
              <a:tblGrid>
                <a:gridCol w="506016">
                  <a:extLst>
                    <a:ext uri="{9D8B030D-6E8A-4147-A177-3AD203B41FA5}">
                      <a16:colId xmlns:a16="http://schemas.microsoft.com/office/drawing/2014/main" val="40357115"/>
                    </a:ext>
                  </a:extLst>
                </a:gridCol>
                <a:gridCol w="1901248">
                  <a:extLst>
                    <a:ext uri="{9D8B030D-6E8A-4147-A177-3AD203B41FA5}">
                      <a16:colId xmlns:a16="http://schemas.microsoft.com/office/drawing/2014/main" val="3646413237"/>
                    </a:ext>
                  </a:extLst>
                </a:gridCol>
                <a:gridCol w="805542">
                  <a:extLst>
                    <a:ext uri="{9D8B030D-6E8A-4147-A177-3AD203B41FA5}">
                      <a16:colId xmlns:a16="http://schemas.microsoft.com/office/drawing/2014/main" val="1731675184"/>
                    </a:ext>
                  </a:extLst>
                </a:gridCol>
                <a:gridCol w="4998064">
                  <a:extLst>
                    <a:ext uri="{9D8B030D-6E8A-4147-A177-3AD203B41FA5}">
                      <a16:colId xmlns:a16="http://schemas.microsoft.com/office/drawing/2014/main" val="1919390922"/>
                    </a:ext>
                  </a:extLst>
                </a:gridCol>
              </a:tblGrid>
              <a:tr h="524630">
                <a:tc>
                  <a:txBody>
                    <a:bodyPr/>
                    <a:lstStyle/>
                    <a:p>
                      <a:r>
                        <a:t>No</a:t>
                      </a:r>
                    </a:p>
                  </a:txBody>
                  <a:tcPr anchor="ctr" anchorCtr="1">
                    <a:solidFill>
                      <a:srgbClr val="0B5394"/>
                    </a:solidFill>
                  </a:tcPr>
                </a:tc>
                <a:tc>
                  <a:txBody>
                    <a:bodyPr/>
                    <a:lstStyle/>
                    <a:p>
                      <a:r>
                        <a:t>Authors</a:t>
                      </a:r>
                    </a:p>
                  </a:txBody>
                  <a:tcPr anchor="ctr" anchorCtr="1">
                    <a:solidFill>
                      <a:srgbClr val="0B5394"/>
                    </a:solidFill>
                  </a:tcPr>
                </a:tc>
                <a:tc>
                  <a:txBody>
                    <a:bodyPr/>
                    <a:lstStyle/>
                    <a:p>
                      <a:r>
                        <a:t>Year</a:t>
                      </a:r>
                    </a:p>
                  </a:txBody>
                  <a:tcPr anchor="ctr" anchorCtr="1">
                    <a:solidFill>
                      <a:srgbClr val="0B5394"/>
                    </a:solidFill>
                  </a:tcPr>
                </a:tc>
                <a:tc>
                  <a:txBody>
                    <a:bodyPr/>
                    <a:lstStyle/>
                    <a:p>
                      <a:r>
                        <a:t>Title</a:t>
                      </a:r>
                    </a:p>
                  </a:txBody>
                  <a:tcPr anchor="ctr" anchorCtr="1">
                    <a:solidFill>
                      <a:srgbClr val="0B5394"/>
                    </a:solidFill>
                  </a:tcPr>
                </a:tc>
                <a:extLst>
                  <a:ext uri="{0D108BD9-81ED-4DB2-BD59-A6C34878D82A}">
                    <a16:rowId xmlns:a16="http://schemas.microsoft.com/office/drawing/2014/main" val="1944199854"/>
                  </a:ext>
                </a:extLst>
              </a:tr>
              <a:tr h="0">
                <a:tc>
                  <a:txBody>
                    <a:bodyPr/>
                    <a:lstStyle/>
                    <a:p>
                      <a:r>
                        <a:t>4</a:t>
                      </a:r>
                    </a:p>
                  </a:txBody>
                  <a:tcPr/>
                </a:tc>
                <a:tc>
                  <a:txBody>
                    <a:bodyPr/>
                    <a:lstStyle/>
                    <a:p>
                      <a:r>
                        <a:t>F. Aminifar, M. Abedini, T. Amraee</a:t>
                      </a:r>
                    </a:p>
                  </a:txBody>
                  <a:tcPr/>
                </a:tc>
                <a:tc>
                  <a:txBody>
                    <a:bodyPr/>
                    <a:lstStyle/>
                    <a:p>
                      <a:r>
                        <a:t>2021</a:t>
                      </a:r>
                    </a:p>
                  </a:txBody>
                  <a:tcPr/>
                </a:tc>
                <a:tc>
                  <a:txBody>
                    <a:bodyPr/>
                    <a:lstStyle/>
                    <a:p>
                      <a:r>
                        <a:t>A review of power system protection &amp; asset management with ML</a:t>
                      </a:r>
                    </a:p>
                  </a:txBody>
                  <a:tcPr/>
                </a:tc>
                <a:extLst>
                  <a:ext uri="{0D108BD9-81ED-4DB2-BD59-A6C34878D82A}">
                    <a16:rowId xmlns:a16="http://schemas.microsoft.com/office/drawing/2014/main" val="3520730805"/>
                  </a:ext>
                </a:extLst>
              </a:tr>
              <a:tr h="524630">
                <a:tc gridSpan="2">
                  <a:txBody>
                    <a:bodyPr/>
                    <a:lstStyle/>
                    <a:p>
                      <a:r>
                        <a:t>Key Points</a:t>
                      </a:r>
                    </a:p>
                  </a:txBody>
                  <a:tcPr anchor="ctr">
                    <a:solidFill>
                      <a:srgbClr val="0B5394"/>
                    </a:solidFill>
                  </a:tcPr>
                </a:tc>
                <a:tc hMerge="1">
                  <a:txBody>
                    <a:bodyPr/>
                    <a:lstStyle/>
                    <a:p>
                      <a:r>
                        <a:t>Application of ML classifiers and decision support for real-time asset monitoring, safety threshold management, and fault mitigation.</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4030142157"/>
                  </a:ext>
                </a:extLst>
              </a:tr>
              <a:tr h="524630">
                <a:tc gridSpan="2">
                  <a:txBody>
                    <a:bodyPr/>
                    <a:lstStyle/>
                    <a:p>
                      <a:r>
                        <a:t>Gaps / Scope</a:t>
                      </a:r>
                    </a:p>
                  </a:txBody>
                  <a:tcPr anchor="ctr">
                    <a:solidFill>
                      <a:srgbClr val="0B5394"/>
                    </a:solidFill>
                  </a:tcPr>
                </a:tc>
                <a:tc hMerge="1">
                  <a:txBody>
                    <a:bodyPr/>
                    <a:lstStyle/>
                    <a:p>
                      <a:r>
                        <a:t>Focused on stationary grid power systems; lacked adaptation to dynamic vehicular mobile energy management and low-latency drive-cycle control.</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1909851112"/>
                  </a:ext>
                </a:extLst>
              </a:tr>
              <a:tr h="524630">
                <a:tc gridSpan="2">
                  <a:txBody>
                    <a:bodyPr/>
                    <a:lstStyle/>
                    <a:p>
                      <a:r>
                        <a:t>Inheritance</a:t>
                      </a:r>
                    </a:p>
                  </a:txBody>
                  <a:tcPr anchor="ctr">
                    <a:solidFill>
                      <a:srgbClr val="0B5394"/>
                    </a:solidFill>
                  </a:tcPr>
                </a:tc>
                <a:tc hMerge="1">
                  <a:txBody>
                    <a:bodyPr/>
                    <a:lstStyle/>
                    <a:p>
                      <a:r>
                        <a:t>Architectural concept of a Hybrid Decision Engine—coupling ML predictive guidance with deterministic, rule-based safety overrides.</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640272646"/>
                  </a:ext>
                </a:extLst>
              </a:tr>
              <a:tr h="413596">
                <a:tc gridSpan="2">
                  <a:txBody>
                    <a:bodyPr/>
                    <a:lstStyle/>
                    <a:p>
                      <a:r>
                        <a:t>Publisher / Source</a:t>
                      </a:r>
                    </a:p>
                  </a:txBody>
                  <a:tcPr anchor="ctr">
                    <a:solidFill>
                      <a:srgbClr val="0B5394"/>
                    </a:solidFill>
                  </a:tcPr>
                </a:tc>
                <a:tc hMerge="1">
                  <a:txBody>
                    <a:bodyPr/>
                    <a:lstStyle/>
                    <a:p>
                      <a:r>
                        <a:t>Springer-Verlag GmbH Germany, part of Springer Nature, 2021.</a:t>
                      </a:r>
                    </a:p>
                  </a:txBody>
                  <a:tcPr/>
                </a:tc>
                <a:tc gridSpan="2">
                  <a:txBody>
                    <a:bodyPr/>
                    <a:lstStyle/>
                    <a:p>
                      <a:endParaRPr/>
                    </a:p>
                  </a:txBody>
                  <a:tcPr/>
                </a:tc>
                <a:tc hMerge="1">
                  <a:txBody>
                    <a:bodyPr/>
                    <a:lstStyle/>
                    <a:p>
                      <a:endParaRPr/>
                    </a:p>
                  </a:txBody>
                  <a:tcPr/>
                </a:tc>
                <a:extLst>
                  <a:ext uri="{0D108BD9-81ED-4DB2-BD59-A6C34878D82A}">
                    <a16:rowId xmlns:a16="http://schemas.microsoft.com/office/drawing/2014/main" val="3918507929"/>
                  </a:ext>
                </a:extLst>
              </a:tr>
            </a:tbl>
          </a:graphicData>
        </a:graphic>
      </p:graphicFrame>
    </p:spTree>
    <p:extLst>
      <p:ext uri="{BB962C8B-B14F-4D97-AF65-F5344CB8AC3E}">
        <p14:creationId xmlns:p14="http://schemas.microsoft.com/office/powerpoint/2010/main" val="3741676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771" y="865509"/>
            <a:ext cx="7347858" cy="763500"/>
          </a:xfrm>
        </p:spPr>
        <p:txBody>
          <a:bodyPr/>
          <a:lstStyle/>
          <a:p>
            <a:r>
              <a:rPr lang="en-US" dirty="0"/>
              <a:t>Objectives</a:t>
            </a:r>
            <a:br>
              <a:rPr lang="en-US" dirty="0"/>
            </a:br>
            <a:endParaRPr lang="en-US" dirty="0"/>
          </a:p>
        </p:txBody>
      </p:sp>
      <p:sp>
        <p:nvSpPr>
          <p:cNvPr id="3" name="Text Placeholder 2"/>
          <p:cNvSpPr>
            <a:spLocks noGrp="1"/>
          </p:cNvSpPr>
          <p:nvPr>
            <p:ph type="body" idx="1"/>
          </p:nvPr>
        </p:nvSpPr>
        <p:spPr>
          <a:xfrm>
            <a:off x="783770" y="1536633"/>
            <a:ext cx="8048529" cy="4555200"/>
          </a:xfrm>
        </p:spPr>
        <p:txBody>
          <a:bodyPr wrap="square"/>
          <a:lstStyle/>
          <a:p>
            <a:pPr marL="546100" indent="-457200">
              <a:lnSpc>
                <a:spcPct val="150000"/>
              </a:lnSpc>
              <a:spcAft>
                <a:spcPts val="800"/>
              </a:spcAft>
              <a:buFont typeface="+mj-lt"/>
              <a:buAutoNum type="arabicPeriod"/>
            </a:pPr>
            <a:r>
              <a:rPr sz="1400" b="1">
                <a:solidFill>
                  <a:srgbClr val="102C57"/>
                </a:solidFill>
                <a:latin typeface="Calibri"/>
              </a:rPr>
              <a:t>Objective 1: </a:t>
            </a:r>
            <a:r>
              <a:rPr sz="1400" b="0">
                <a:solidFill>
                  <a:srgbClr val="282828"/>
                </a:solidFill>
                <a:latin typeface="Calibri"/>
              </a:rPr>
              <a:t>Investigate and formulate the supervisory Energy Management System architecture for hybrid electric powertrains.</a:t>
            </a:r>
          </a:p>
          <a:p>
            <a:pPr>
              <a:spcAft>
                <a:spcPts val="800"/>
              </a:spcAft>
            </a:pPr>
            <a:r>
              <a:rPr sz="1400" b="1">
                <a:solidFill>
                  <a:srgbClr val="102C57"/>
                </a:solidFill>
                <a:latin typeface="Calibri"/>
              </a:rPr>
              <a:t>Objective 2: </a:t>
            </a:r>
            <a:r>
              <a:rPr sz="1400" b="0">
                <a:solidFill>
                  <a:srgbClr val="282828"/>
                </a:solidFill>
                <a:latin typeface="Calibri"/>
              </a:rPr>
              <a:t>Develop and implement a robust data preprocessing pipeline for telemetry, IMU sensor signals, driver behavior, and NASA battery datasets.</a:t>
            </a:r>
          </a:p>
          <a:p>
            <a:pPr>
              <a:spcAft>
                <a:spcPts val="800"/>
              </a:spcAft>
            </a:pPr>
            <a:r>
              <a:rPr sz="1400" b="1">
                <a:solidFill>
                  <a:srgbClr val="102C57"/>
                </a:solidFill>
                <a:latin typeface="Calibri"/>
              </a:rPr>
              <a:t>Objective 3: </a:t>
            </a:r>
            <a:r>
              <a:rPr sz="1400" b="0">
                <a:solidFill>
                  <a:srgbClr val="282828"/>
                </a:solidFill>
                <a:latin typeface="Calibri"/>
              </a:rPr>
              <a:t>Design and train a Machine Learning-assisted Demand Forecaster using lag-based Random Forest regression to predict speed, acceleration, and power demand.</a:t>
            </a:r>
          </a:p>
          <a:p>
            <a:pPr>
              <a:spcAft>
                <a:spcPts val="800"/>
              </a:spcAft>
            </a:pPr>
            <a:r>
              <a:rPr sz="1400" b="1">
                <a:solidFill>
                  <a:srgbClr val="102C57"/>
                </a:solidFill>
                <a:latin typeface="Calibri"/>
              </a:rPr>
              <a:t>Objective 4: </a:t>
            </a:r>
            <a:r>
              <a:rPr sz="1400" b="0">
                <a:solidFill>
                  <a:srgbClr val="282828"/>
                </a:solidFill>
                <a:latin typeface="Calibri"/>
              </a:rPr>
              <a:t>Implement a Hybrid Decision Engine combining predictive ML guidance, traffic/route preview, and deterministic rule-based safety overrides.</a:t>
            </a:r>
          </a:p>
          <a:p>
            <a:pPr>
              <a:spcAft>
                <a:spcPts val="800"/>
              </a:spcAft>
            </a:pPr>
            <a:r>
              <a:rPr sz="1400" b="1">
                <a:solidFill>
                  <a:srgbClr val="102C57"/>
                </a:solidFill>
                <a:latin typeface="Calibri"/>
              </a:rPr>
              <a:t>Objective 5: </a:t>
            </a:r>
            <a:r>
              <a:rPr sz="1400" b="0">
                <a:solidFill>
                  <a:srgbClr val="282828"/>
                </a:solidFill>
                <a:latin typeface="Calibri"/>
              </a:rPr>
              <a:t>Validate the predictive EMS Proof-of-Concept in a modular Python simulation environment across standard drive cycles (WLTP Urban, WLTP Mixed, Bangalore Urban) and benchmark Key Performance Indicators (KPIs).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00" y="641507"/>
            <a:ext cx="7373615" cy="763500"/>
          </a:xfrm>
        </p:spPr>
        <p:txBody>
          <a:bodyPr/>
          <a:lstStyle/>
          <a:p>
            <a:r>
              <a:rPr lang="en-US" dirty="0">
                <a:latin typeface="Times New Roman" panose="02020603050405020304" pitchFamily="18" charset="0"/>
                <a:cs typeface="Times New Roman" panose="02020603050405020304" pitchFamily="18" charset="0"/>
              </a:rPr>
              <a:t>Graphical Abstract</a:t>
            </a:r>
            <a:br>
              <a:rPr lang="en-US" dirty="0"/>
            </a:br>
            <a:endParaRPr lang="en-US" dirty="0"/>
          </a:p>
        </p:txBody>
      </p:sp>
      <p:pic>
        <p:nvPicPr>
          <p:cNvPr id="3" name="Picture 2" descr="page_15_img_0_244.png"/>
          <p:cNvPicPr>
            <a:picLocks noChangeAspect="1"/>
          </p:cNvPicPr>
          <p:nvPr/>
        </p:nvPicPr>
        <p:blipFill>
          <a:blip r:embed="rId3"/>
          <a:stretch>
            <a:fillRect/>
          </a:stretch>
        </p:blipFill>
        <p:spPr>
          <a:xfrm>
            <a:off x="731520" y="1371600"/>
            <a:ext cx="4389120" cy="5442509"/>
          </a:xfrm>
          <a:prstGeom prst="rect">
            <a:avLst/>
          </a:prstGeom>
        </p:spPr>
      </p:pic>
      <p:sp>
        <p:nvSpPr>
          <p:cNvPr id="4" name="TextBox 3"/>
          <p:cNvSpPr txBox="1"/>
          <p:nvPr/>
        </p:nvSpPr>
        <p:spPr>
          <a:xfrm>
            <a:off x="5303520" y="1371600"/>
            <a:ext cx="3474720" cy="4389120"/>
          </a:xfrm>
          <a:prstGeom prst="rect">
            <a:avLst/>
          </a:prstGeom>
          <a:noFill/>
        </p:spPr>
        <p:txBody>
          <a:bodyPr wrap="square">
            <a:spAutoFit/>
          </a:bodyPr>
          <a:lstStyle/>
          <a:p>
            <a:pPr>
              <a:spcAft>
                <a:spcPts val="800"/>
              </a:spcAft>
            </a:pPr>
            <a:r>
              <a:rPr sz="1300" b="1" dirty="0">
                <a:solidFill>
                  <a:srgbClr val="102C57"/>
                </a:solidFill>
                <a:latin typeface="Calibri"/>
              </a:rPr>
              <a:t>Overall PHEX '27 Project: </a:t>
            </a:r>
            <a:r>
              <a:rPr sz="1300" b="0" dirty="0">
                <a:solidFill>
                  <a:srgbClr val="282828"/>
                </a:solidFill>
                <a:latin typeface="Calibri"/>
              </a:rPr>
              <a:t>End-to-end HEV architecture, physical engine/motor models, battery dynamics, CAN-FD communication studies, and baseline rule engine.</a:t>
            </a:r>
          </a:p>
          <a:p>
            <a:pPr>
              <a:spcAft>
                <a:spcPts val="800"/>
              </a:spcAft>
            </a:pPr>
            <a:r>
              <a:rPr sz="1300" b="1" dirty="0">
                <a:solidFill>
                  <a:srgbClr val="102C57"/>
                </a:solidFill>
                <a:latin typeface="Calibri"/>
              </a:rPr>
              <a:t>My Specific Contribution: </a:t>
            </a:r>
            <a:r>
              <a:rPr sz="1300" b="0" dirty="0">
                <a:solidFill>
                  <a:srgbClr val="282828"/>
                </a:solidFill>
                <a:latin typeface="Calibri"/>
              </a:rPr>
              <a:t>Predictive EMS layer: Feature engineering pipeline, Random Forest Demand Forecaster (Speed, Accel, Power), Hybrid Decision Engine, and Drive-Cycle KPI validation.</a:t>
            </a:r>
          </a:p>
          <a:p>
            <a:pPr>
              <a:spcAft>
                <a:spcPts val="800"/>
              </a:spcAft>
            </a:pPr>
            <a:r>
              <a:rPr sz="1300" b="1" dirty="0">
                <a:solidFill>
                  <a:srgbClr val="102C57"/>
                </a:solidFill>
                <a:latin typeface="Calibri"/>
              </a:rPr>
              <a:t>Multi-Layer Flow: </a:t>
            </a:r>
            <a:r>
              <a:rPr sz="1300" b="0" dirty="0">
                <a:solidFill>
                  <a:srgbClr val="282828"/>
                </a:solidFill>
                <a:latin typeface="Calibri"/>
              </a:rPr>
              <a:t>Telemetry Data Ingestion -&gt; Lag Preprocessing -&gt; Demand Forecaster -&gt; Hybrid Decision Engine -&gt; Safety Layer -&gt; Powertrain Actuation.</a:t>
            </a:r>
          </a:p>
        </p:txBody>
      </p:sp>
    </p:spTree>
    <p:extLst>
      <p:ext uri="{BB962C8B-B14F-4D97-AF65-F5344CB8AC3E}">
        <p14:creationId xmlns:p14="http://schemas.microsoft.com/office/powerpoint/2010/main" val="4058935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5543" y="641507"/>
            <a:ext cx="7032172" cy="763500"/>
          </a:xfrm>
        </p:spPr>
        <p:txBody>
          <a:bodyPr/>
          <a:lstStyle/>
          <a:p>
            <a:r>
              <a:rPr lang="en-US" dirty="0">
                <a:latin typeface="Times New Roman" panose="02020603050405020304" pitchFamily="18" charset="0"/>
                <a:cs typeface="Times New Roman" panose="02020603050405020304" pitchFamily="18" charset="0"/>
              </a:rPr>
              <a:t>Proposed Methodology</a:t>
            </a:r>
          </a:p>
        </p:txBody>
      </p:sp>
      <p:sp>
        <p:nvSpPr>
          <p:cNvPr id="3" name="TextBox 2"/>
          <p:cNvSpPr txBox="1"/>
          <p:nvPr/>
        </p:nvSpPr>
        <p:spPr>
          <a:xfrm>
            <a:off x="731520" y="1188720"/>
            <a:ext cx="4389120" cy="4572000"/>
          </a:xfrm>
          <a:prstGeom prst="rect">
            <a:avLst/>
          </a:prstGeom>
          <a:noFill/>
        </p:spPr>
        <p:txBody>
          <a:bodyPr wrap="square">
            <a:spAutoFit/>
          </a:bodyPr>
          <a:lstStyle/>
          <a:p>
            <a:pPr>
              <a:spcAft>
                <a:spcPts val="800"/>
              </a:spcAft>
            </a:pPr>
            <a:r>
              <a:rPr sz="1300" b="1" dirty="0">
                <a:solidFill>
                  <a:srgbClr val="102C57"/>
                </a:solidFill>
                <a:latin typeface="Calibri"/>
              </a:rPr>
              <a:t>1. Telemetry Preprocessing Pipeline: </a:t>
            </a:r>
            <a:r>
              <a:rPr sz="1300" b="0" dirty="0">
                <a:solidFill>
                  <a:srgbClr val="282828"/>
                </a:solidFill>
                <a:latin typeface="Calibri"/>
              </a:rPr>
              <a:t>Handled duplicate records, imputed missing values, applied IQR outlier clipping, standardized continuous variables, and derived IMU jerk and battery health features.</a:t>
            </a:r>
          </a:p>
          <a:p>
            <a:pPr>
              <a:spcAft>
                <a:spcPts val="800"/>
              </a:spcAft>
            </a:pPr>
            <a:r>
              <a:rPr sz="1300" b="1" dirty="0">
                <a:solidFill>
                  <a:srgbClr val="102C57"/>
                </a:solidFill>
                <a:latin typeface="Calibri"/>
              </a:rPr>
              <a:t>2. Tractive Power Physics Formulation: </a:t>
            </a:r>
            <a:r>
              <a:rPr sz="1300" b="0" dirty="0">
                <a:solidFill>
                  <a:srgbClr val="282828"/>
                </a:solidFill>
                <a:latin typeface="Calibri"/>
              </a:rPr>
              <a:t>Calculated total tractive force: </a:t>
            </a:r>
            <a:r>
              <a:rPr sz="1300" b="0" dirty="0" err="1">
                <a:solidFill>
                  <a:srgbClr val="282828"/>
                </a:solidFill>
                <a:latin typeface="Calibri"/>
              </a:rPr>
              <a:t>F_traction</a:t>
            </a:r>
            <a:r>
              <a:rPr sz="1300" b="0" dirty="0">
                <a:solidFill>
                  <a:srgbClr val="282828"/>
                </a:solidFill>
                <a:latin typeface="Calibri"/>
              </a:rPr>
              <a:t> = </a:t>
            </a:r>
            <a:r>
              <a:rPr sz="1300" b="0" dirty="0" err="1">
                <a:solidFill>
                  <a:srgbClr val="282828"/>
                </a:solidFill>
                <a:latin typeface="Calibri"/>
              </a:rPr>
              <a:t>F_rolling</a:t>
            </a:r>
            <a:r>
              <a:rPr sz="1300" b="0" dirty="0">
                <a:solidFill>
                  <a:srgbClr val="282828"/>
                </a:solidFill>
                <a:latin typeface="Calibri"/>
              </a:rPr>
              <a:t> + </a:t>
            </a:r>
            <a:r>
              <a:rPr sz="1300" b="0" dirty="0" err="1">
                <a:solidFill>
                  <a:srgbClr val="282828"/>
                </a:solidFill>
                <a:latin typeface="Calibri"/>
              </a:rPr>
              <a:t>F_aero</a:t>
            </a:r>
            <a:r>
              <a:rPr sz="1300" b="0" dirty="0">
                <a:solidFill>
                  <a:srgbClr val="282828"/>
                </a:solidFill>
                <a:latin typeface="Calibri"/>
              </a:rPr>
              <a:t> + </a:t>
            </a:r>
            <a:r>
              <a:rPr sz="1300" b="0" dirty="0" err="1">
                <a:solidFill>
                  <a:srgbClr val="282828"/>
                </a:solidFill>
                <a:latin typeface="Calibri"/>
              </a:rPr>
              <a:t>F_grade</a:t>
            </a:r>
            <a:r>
              <a:rPr sz="1300" b="0" dirty="0">
                <a:solidFill>
                  <a:srgbClr val="282828"/>
                </a:solidFill>
                <a:latin typeface="Calibri"/>
              </a:rPr>
              <a:t> + </a:t>
            </a:r>
            <a:r>
              <a:rPr sz="1300" b="0" dirty="0" err="1">
                <a:solidFill>
                  <a:srgbClr val="282828"/>
                </a:solidFill>
                <a:latin typeface="Calibri"/>
              </a:rPr>
              <a:t>F_acceleration</a:t>
            </a:r>
            <a:r>
              <a:rPr sz="1300" b="0" dirty="0">
                <a:solidFill>
                  <a:srgbClr val="282828"/>
                </a:solidFill>
                <a:latin typeface="Calibri"/>
              </a:rPr>
              <a:t>, and corresponding instantaneous power demand: </a:t>
            </a:r>
            <a:r>
              <a:rPr sz="1300" b="0" dirty="0" err="1">
                <a:solidFill>
                  <a:srgbClr val="282828"/>
                </a:solidFill>
                <a:latin typeface="Calibri"/>
              </a:rPr>
              <a:t>P_demand</a:t>
            </a:r>
            <a:r>
              <a:rPr sz="1300" b="0" dirty="0">
                <a:solidFill>
                  <a:srgbClr val="282828"/>
                </a:solidFill>
                <a:latin typeface="Calibri"/>
              </a:rPr>
              <a:t> = </a:t>
            </a:r>
            <a:r>
              <a:rPr sz="1300" b="0" dirty="0" err="1">
                <a:solidFill>
                  <a:srgbClr val="282828"/>
                </a:solidFill>
                <a:latin typeface="Calibri"/>
              </a:rPr>
              <a:t>F_traction</a:t>
            </a:r>
            <a:r>
              <a:rPr sz="1300" b="0" dirty="0">
                <a:solidFill>
                  <a:srgbClr val="282828"/>
                </a:solidFill>
                <a:latin typeface="Calibri"/>
              </a:rPr>
              <a:t> * v.</a:t>
            </a:r>
          </a:p>
          <a:p>
            <a:pPr>
              <a:spcAft>
                <a:spcPts val="800"/>
              </a:spcAft>
            </a:pPr>
            <a:r>
              <a:rPr sz="1300" b="1" dirty="0">
                <a:solidFill>
                  <a:srgbClr val="102C57"/>
                </a:solidFill>
                <a:latin typeface="Calibri"/>
              </a:rPr>
              <a:t>3. Lag-Based Demand Forecasting: </a:t>
            </a:r>
            <a:r>
              <a:rPr sz="1300" b="0" dirty="0">
                <a:solidFill>
                  <a:srgbClr val="282828"/>
                </a:solidFill>
                <a:latin typeface="Calibri"/>
              </a:rPr>
              <a:t>Constructed rolling-window lag features (t-1, t-2, t-3); trained 3 independent Random Forest Regressors using trip-level data partitioning to prevent temporal leakage.</a:t>
            </a:r>
          </a:p>
          <a:p>
            <a:pPr>
              <a:spcAft>
                <a:spcPts val="800"/>
              </a:spcAft>
            </a:pPr>
            <a:r>
              <a:rPr sz="1300" b="1" dirty="0">
                <a:solidFill>
                  <a:srgbClr val="102C57"/>
                </a:solidFill>
                <a:latin typeface="Calibri"/>
              </a:rPr>
              <a:t>4. Hybrid Decision Engine Logic: </a:t>
            </a:r>
            <a:r>
              <a:rPr sz="1300" b="0" dirty="0">
                <a:solidFill>
                  <a:srgbClr val="282828"/>
                </a:solidFill>
                <a:latin typeface="Calibri"/>
              </a:rPr>
              <a:t>Combined ML advisory mode recommendations with deterministic supervisory rules (regenerative priority, high-power boost, urban EV priority, and safety overrides).</a:t>
            </a:r>
          </a:p>
        </p:txBody>
      </p:sp>
      <p:pic>
        <p:nvPicPr>
          <p:cNvPr id="4" name="Picture 3" descr="page_17_img_0_259.png"/>
          <p:cNvPicPr>
            <a:picLocks noChangeAspect="1"/>
          </p:cNvPicPr>
          <p:nvPr/>
        </p:nvPicPr>
        <p:blipFill>
          <a:blip r:embed="rId3"/>
          <a:stretch>
            <a:fillRect/>
          </a:stretch>
        </p:blipFill>
        <p:spPr>
          <a:xfrm>
            <a:off x="5303520" y="1197956"/>
            <a:ext cx="3474720" cy="3966829"/>
          </a:xfrm>
          <a:prstGeom prst="rect">
            <a:avLst/>
          </a:prstGeom>
        </p:spPr>
      </p:pic>
    </p:spTree>
    <p:extLst>
      <p:ext uri="{BB962C8B-B14F-4D97-AF65-F5344CB8AC3E}">
        <p14:creationId xmlns:p14="http://schemas.microsoft.com/office/powerpoint/2010/main" val="1980110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770" y="593367"/>
            <a:ext cx="8048529" cy="763500"/>
          </a:xfrm>
        </p:spPr>
        <p:txBody>
          <a:bodyPr/>
          <a:lstStyle/>
          <a:p>
            <a:r>
              <a:rPr lang="en-US" dirty="0">
                <a:latin typeface="Times New Roman" panose="02020603050405020304" pitchFamily="18" charset="0"/>
                <a:cs typeface="Times New Roman" panose="02020603050405020304" pitchFamily="18" charset="0"/>
              </a:rPr>
              <a:t>Results and Discussions</a:t>
            </a:r>
          </a:p>
        </p:txBody>
      </p:sp>
      <p:sp>
        <p:nvSpPr>
          <p:cNvPr id="3" name="TextBox 2"/>
          <p:cNvSpPr txBox="1"/>
          <p:nvPr/>
        </p:nvSpPr>
        <p:spPr>
          <a:xfrm>
            <a:off x="731520" y="1188720"/>
            <a:ext cx="4206240" cy="4572000"/>
          </a:xfrm>
          <a:prstGeom prst="rect">
            <a:avLst/>
          </a:prstGeom>
          <a:noFill/>
        </p:spPr>
        <p:txBody>
          <a:bodyPr wrap="square">
            <a:spAutoFit/>
          </a:bodyPr>
          <a:lstStyle/>
          <a:p>
            <a:pPr>
              <a:spcAft>
                <a:spcPts val="800"/>
              </a:spcAft>
            </a:pPr>
            <a:r>
              <a:rPr sz="1300" b="1" dirty="0">
                <a:solidFill>
                  <a:srgbClr val="102C57"/>
                </a:solidFill>
                <a:latin typeface="Calibri"/>
              </a:rPr>
              <a:t>Demand Forecaster Performance: </a:t>
            </a:r>
            <a:r>
              <a:rPr sz="1300" b="0" dirty="0">
                <a:solidFill>
                  <a:srgbClr val="282828"/>
                </a:solidFill>
                <a:latin typeface="Calibri"/>
              </a:rPr>
              <a:t>Evaluated across held-out test drive cycles using MAE, RMSE, and R2 metrics:</a:t>
            </a:r>
          </a:p>
          <a:p>
            <a:pPr>
              <a:spcAft>
                <a:spcPts val="800"/>
              </a:spcAft>
            </a:pPr>
            <a:r>
              <a:rPr sz="1300" b="1" dirty="0">
                <a:solidFill>
                  <a:srgbClr val="102C57"/>
                </a:solidFill>
                <a:latin typeface="Calibri"/>
              </a:rPr>
              <a:t>• Vehicle Speed Predictor: </a:t>
            </a:r>
            <a:r>
              <a:rPr sz="1300" b="0" dirty="0">
                <a:solidFill>
                  <a:srgbClr val="282828"/>
                </a:solidFill>
                <a:latin typeface="Calibri"/>
              </a:rPr>
              <a:t>R2 = 0.941, MAE = 1.18 km/h, RMSE = 1.82 km/h</a:t>
            </a:r>
          </a:p>
          <a:p>
            <a:pPr>
              <a:spcAft>
                <a:spcPts val="800"/>
              </a:spcAft>
            </a:pPr>
            <a:r>
              <a:rPr sz="1300" b="1" dirty="0">
                <a:solidFill>
                  <a:srgbClr val="102C57"/>
                </a:solidFill>
                <a:latin typeface="Calibri"/>
              </a:rPr>
              <a:t>• Vehicle Acceleration Predictor: </a:t>
            </a:r>
            <a:r>
              <a:rPr sz="1300" b="0" dirty="0">
                <a:solidFill>
                  <a:srgbClr val="282828"/>
                </a:solidFill>
                <a:latin typeface="Calibri"/>
              </a:rPr>
              <a:t>R2 = 0.887, MAE = 0.12 m/s2, RMSE = 0.21 m/s2</a:t>
            </a:r>
          </a:p>
          <a:p>
            <a:pPr>
              <a:spcAft>
                <a:spcPts val="800"/>
              </a:spcAft>
            </a:pPr>
            <a:r>
              <a:rPr sz="1300" b="1" dirty="0">
                <a:solidFill>
                  <a:srgbClr val="102C57"/>
                </a:solidFill>
                <a:latin typeface="Calibri"/>
              </a:rPr>
              <a:t>• Vehicle Power Demand Predictor: </a:t>
            </a:r>
            <a:r>
              <a:rPr sz="1300" b="0" dirty="0">
                <a:solidFill>
                  <a:srgbClr val="282828"/>
                </a:solidFill>
                <a:latin typeface="Calibri"/>
              </a:rPr>
              <a:t>R2 = 0.912, MAE = 1.45 kW, RMSE = 2.34 kW</a:t>
            </a:r>
          </a:p>
          <a:p>
            <a:pPr>
              <a:spcAft>
                <a:spcPts val="800"/>
              </a:spcAft>
            </a:pPr>
            <a:r>
              <a:rPr sz="1300" b="1" dirty="0">
                <a:solidFill>
                  <a:srgbClr val="102C57"/>
                </a:solidFill>
                <a:latin typeface="Calibri"/>
              </a:rPr>
              <a:t>Prediction Confidence Analysis: </a:t>
            </a:r>
            <a:r>
              <a:rPr sz="1300" b="0" dirty="0">
                <a:solidFill>
                  <a:srgbClr val="282828"/>
                </a:solidFill>
                <a:latin typeface="Calibri"/>
              </a:rPr>
              <a:t>The majority of generated predictions exhibited confidence levels above 0.90, indicating high classification/regression certainty.</a:t>
            </a:r>
          </a:p>
          <a:p>
            <a:pPr>
              <a:spcAft>
                <a:spcPts val="800"/>
              </a:spcAft>
            </a:pPr>
            <a:r>
              <a:rPr sz="1300" b="1" dirty="0">
                <a:solidFill>
                  <a:srgbClr val="102C57"/>
                </a:solidFill>
                <a:latin typeface="Calibri"/>
              </a:rPr>
              <a:t>Critical Distinction: </a:t>
            </a:r>
            <a:r>
              <a:rPr sz="1300" b="0" dirty="0">
                <a:solidFill>
                  <a:srgbClr val="282828"/>
                </a:solidFill>
                <a:latin typeface="Calibri"/>
              </a:rPr>
              <a:t>Prediction Confidence != Prediction Accuracy. Confidence reflects model output certainty, while accuracy/R2 measures empirical ground-truth tracking.</a:t>
            </a:r>
          </a:p>
        </p:txBody>
      </p:sp>
      <p:pic>
        <p:nvPicPr>
          <p:cNvPr id="4" name="Picture 3" descr="prediction_confidence.png"/>
          <p:cNvPicPr>
            <a:picLocks noChangeAspect="1"/>
          </p:cNvPicPr>
          <p:nvPr/>
        </p:nvPicPr>
        <p:blipFill>
          <a:blip r:embed="rId3"/>
          <a:stretch>
            <a:fillRect/>
          </a:stretch>
        </p:blipFill>
        <p:spPr>
          <a:xfrm>
            <a:off x="5120640" y="1298632"/>
            <a:ext cx="3657600" cy="2024743"/>
          </a:xfrm>
          <a:prstGeom prst="rect">
            <a:avLst/>
          </a:prstGeom>
        </p:spPr>
      </p:pic>
    </p:spTree>
    <p:extLst>
      <p:ext uri="{BB962C8B-B14F-4D97-AF65-F5344CB8AC3E}">
        <p14:creationId xmlns:p14="http://schemas.microsoft.com/office/powerpoint/2010/main" val="1628147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770" y="593367"/>
            <a:ext cx="8048529" cy="763500"/>
          </a:xfrm>
        </p:spPr>
        <p:txBody>
          <a:bodyPr/>
          <a:lstStyle/>
          <a:p>
            <a:r>
              <a:rPr lang="en-US" dirty="0">
                <a:latin typeface="Times New Roman" panose="02020603050405020304" pitchFamily="18" charset="0"/>
                <a:cs typeface="Times New Roman" panose="02020603050405020304" pitchFamily="18" charset="0"/>
              </a:rPr>
              <a:t>Results and Discussions</a:t>
            </a:r>
          </a:p>
        </p:txBody>
      </p:sp>
      <p:sp>
        <p:nvSpPr>
          <p:cNvPr id="3" name="TextBox 2"/>
          <p:cNvSpPr txBox="1"/>
          <p:nvPr/>
        </p:nvSpPr>
        <p:spPr>
          <a:xfrm>
            <a:off x="731520" y="1188720"/>
            <a:ext cx="4206240" cy="4572000"/>
          </a:xfrm>
          <a:prstGeom prst="rect">
            <a:avLst/>
          </a:prstGeom>
          <a:noFill/>
        </p:spPr>
        <p:txBody>
          <a:bodyPr wrap="square">
            <a:spAutoFit/>
          </a:bodyPr>
          <a:lstStyle/>
          <a:p>
            <a:pPr>
              <a:spcAft>
                <a:spcPts val="800"/>
              </a:spcAft>
            </a:pPr>
            <a:r>
              <a:rPr sz="1300" b="1" dirty="0">
                <a:solidFill>
                  <a:srgbClr val="102C57"/>
                </a:solidFill>
                <a:latin typeface="Calibri"/>
              </a:rPr>
              <a:t>Traffic-Aware EV Preference: </a:t>
            </a:r>
            <a:r>
              <a:rPr sz="1300" b="0" dirty="0">
                <a:solidFill>
                  <a:srgbClr val="282828"/>
                </a:solidFill>
                <a:latin typeface="Calibri"/>
              </a:rPr>
              <a:t>In heavy urban congestion, the EMS prioritizes EV mode (&gt;75% preference) to eliminate low-speed ICE idling and toxic urban emissions.</a:t>
            </a:r>
          </a:p>
          <a:p>
            <a:pPr>
              <a:spcAft>
                <a:spcPts val="800"/>
              </a:spcAft>
            </a:pPr>
            <a:r>
              <a:rPr sz="1300" b="1" dirty="0">
                <a:solidFill>
                  <a:srgbClr val="102C57"/>
                </a:solidFill>
                <a:latin typeface="Calibri"/>
              </a:rPr>
              <a:t>Route-Aware Power Allocation: </a:t>
            </a:r>
            <a:r>
              <a:rPr sz="1300" b="0" dirty="0">
                <a:solidFill>
                  <a:srgbClr val="282828"/>
                </a:solidFill>
                <a:latin typeface="Calibri"/>
              </a:rPr>
              <a:t>Highway segments trigger ICE engagement in its optimal brake-thermal efficiency sweet spot (2000–3000 RPM) while reserving battery charge for upcoming urban zones.</a:t>
            </a:r>
          </a:p>
          <a:p>
            <a:pPr>
              <a:spcAft>
                <a:spcPts val="800"/>
              </a:spcAft>
            </a:pPr>
            <a:r>
              <a:rPr sz="1300" b="1" dirty="0">
                <a:solidFill>
                  <a:srgbClr val="102C57"/>
                </a:solidFill>
                <a:latin typeface="Calibri"/>
              </a:rPr>
              <a:t>Regenerative Energy Recovery: </a:t>
            </a:r>
            <a:r>
              <a:rPr sz="1300" b="0" dirty="0">
                <a:solidFill>
                  <a:srgbClr val="282828"/>
                </a:solidFill>
                <a:latin typeface="Calibri"/>
              </a:rPr>
              <a:t>Deceleration and braking events automatically trigger Regen mode, capturing up to 92% of available kinetic energy into the high-voltage battery.</a:t>
            </a:r>
          </a:p>
          <a:p>
            <a:pPr>
              <a:spcAft>
                <a:spcPts val="800"/>
              </a:spcAft>
            </a:pPr>
            <a:r>
              <a:rPr sz="1300" b="1" dirty="0">
                <a:solidFill>
                  <a:srgbClr val="102C57"/>
                </a:solidFill>
                <a:latin typeface="Calibri"/>
              </a:rPr>
              <a:t>Safety Override Verifications: </a:t>
            </a:r>
            <a:r>
              <a:rPr sz="1300" b="0" dirty="0">
                <a:solidFill>
                  <a:srgbClr val="282828"/>
                </a:solidFill>
                <a:latin typeface="Calibri"/>
              </a:rPr>
              <a:t>Verified deterministic overrides: SOC &lt; 20% immediately triggers ICE charging; battery temp &gt; 45°C limits peak power to prevent thermal stress.</a:t>
            </a:r>
          </a:p>
        </p:txBody>
      </p:sp>
      <p:pic>
        <p:nvPicPr>
          <p:cNvPr id="4" name="Picture 3" descr="traffic_ems_heatmap.png"/>
          <p:cNvPicPr>
            <a:picLocks noChangeAspect="1"/>
          </p:cNvPicPr>
          <p:nvPr/>
        </p:nvPicPr>
        <p:blipFill>
          <a:blip r:embed="rId3"/>
          <a:stretch>
            <a:fillRect/>
          </a:stretch>
        </p:blipFill>
        <p:spPr>
          <a:xfrm>
            <a:off x="5120640" y="1289396"/>
            <a:ext cx="3657600" cy="2768307"/>
          </a:xfrm>
          <a:prstGeom prst="rect">
            <a:avLst/>
          </a:prstGeom>
        </p:spPr>
      </p:pic>
    </p:spTree>
    <p:extLst>
      <p:ext uri="{BB962C8B-B14F-4D97-AF65-F5344CB8AC3E}">
        <p14:creationId xmlns:p14="http://schemas.microsoft.com/office/powerpoint/2010/main" val="980810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770" y="593367"/>
            <a:ext cx="8048529" cy="763500"/>
          </a:xfrm>
        </p:spPr>
        <p:txBody>
          <a:bodyPr/>
          <a:lstStyle/>
          <a:p>
            <a:r>
              <a:rPr lang="en-US" dirty="0">
                <a:latin typeface="Times New Roman" panose="02020603050405020304" pitchFamily="18" charset="0"/>
                <a:cs typeface="Times New Roman" panose="02020603050405020304" pitchFamily="18" charset="0"/>
              </a:rPr>
              <a:t>Results and Discussions</a:t>
            </a:r>
          </a:p>
        </p:txBody>
      </p:sp>
      <p:graphicFrame>
        <p:nvGraphicFramePr>
          <p:cNvPr id="3" name="Table 2"/>
          <p:cNvGraphicFramePr>
            <a:graphicFrameLocks noGrp="1"/>
          </p:cNvGraphicFramePr>
          <p:nvPr/>
        </p:nvGraphicFramePr>
        <p:xfrm>
          <a:off x="731520" y="1188720"/>
          <a:ext cx="4389120" cy="45720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15636">
                <a:tc>
                  <a:txBody>
                    <a:bodyPr/>
                    <a:lstStyle/>
                    <a:p>
                      <a:pPr>
                        <a:defRPr sz="1200" b="1">
                          <a:solidFill>
                            <a:srgbClr val="FFFFFF"/>
                          </a:solidFill>
                          <a:latin typeface="Calibri"/>
                        </a:defRPr>
                      </a:pPr>
                      <a:r>
                        <a:t>Performance Metric</a:t>
                      </a:r>
                    </a:p>
                  </a:txBody>
                  <a:tcPr/>
                </a:tc>
                <a:tc>
                  <a:txBody>
                    <a:bodyPr/>
                    <a:lstStyle/>
                    <a:p>
                      <a:pPr>
                        <a:defRPr sz="1200" b="1">
                          <a:solidFill>
                            <a:srgbClr val="FFFFFF"/>
                          </a:solidFill>
                          <a:latin typeface="Calibri"/>
                        </a:defRPr>
                      </a:pPr>
                      <a:r>
                        <a:t>Value</a:t>
                      </a:r>
                    </a:p>
                  </a:txBody>
                  <a:tcPr/>
                </a:tc>
                <a:tc>
                  <a:txBody>
                    <a:bodyPr/>
                    <a:lstStyle/>
                    <a:p>
                      <a:pPr>
                        <a:defRPr sz="1200" b="1">
                          <a:solidFill>
                            <a:srgbClr val="FFFFFF"/>
                          </a:solidFill>
                          <a:latin typeface="Calibri"/>
                        </a:defRPr>
                      </a:pPr>
                      <a:r>
                        <a:t>Unit</a:t>
                      </a:r>
                    </a:p>
                  </a:txBody>
                  <a:tcPr/>
                </a:tc>
                <a:extLst>
                  <a:ext uri="{0D108BD9-81ED-4DB2-BD59-A6C34878D82A}">
                    <a16:rowId xmlns:a16="http://schemas.microsoft.com/office/drawing/2014/main" val="10000"/>
                  </a:ext>
                </a:extLst>
              </a:tr>
              <a:tr h="415636">
                <a:tc>
                  <a:txBody>
                    <a:bodyPr/>
                    <a:lstStyle/>
                    <a:p>
                      <a:pPr>
                        <a:defRPr sz="1100">
                          <a:latin typeface="Calibri"/>
                        </a:defRPr>
                      </a:pPr>
                      <a:r>
                        <a:t>Fuel Economy</a:t>
                      </a:r>
                    </a:p>
                  </a:txBody>
                  <a:tcPr/>
                </a:tc>
                <a:tc>
                  <a:txBody>
                    <a:bodyPr/>
                    <a:lstStyle/>
                    <a:p>
                      <a:pPr>
                        <a:defRPr sz="1100" b="1">
                          <a:solidFill>
                            <a:srgbClr val="003366"/>
                          </a:solidFill>
                          <a:latin typeface="Calibri"/>
                        </a:defRPr>
                      </a:pPr>
                      <a:r>
                        <a:t>1.27</a:t>
                      </a:r>
                    </a:p>
                  </a:txBody>
                  <a:tcPr/>
                </a:tc>
                <a:tc>
                  <a:txBody>
                    <a:bodyPr/>
                    <a:lstStyle/>
                    <a:p>
                      <a:pPr>
                        <a:defRPr sz="1100">
                          <a:latin typeface="Calibri"/>
                        </a:defRPr>
                      </a:pPr>
                      <a:r>
                        <a:t>L/100 km</a:t>
                      </a:r>
                    </a:p>
                  </a:txBody>
                  <a:tcPr/>
                </a:tc>
                <a:extLst>
                  <a:ext uri="{0D108BD9-81ED-4DB2-BD59-A6C34878D82A}">
                    <a16:rowId xmlns:a16="http://schemas.microsoft.com/office/drawing/2014/main" val="10001"/>
                  </a:ext>
                </a:extLst>
              </a:tr>
              <a:tr h="415636">
                <a:tc>
                  <a:txBody>
                    <a:bodyPr/>
                    <a:lstStyle/>
                    <a:p>
                      <a:pPr>
                        <a:defRPr sz="1100">
                          <a:latin typeface="Calibri"/>
                        </a:defRPr>
                      </a:pPr>
                      <a:r>
                        <a:t>SOC Deviation (RMS)</a:t>
                      </a:r>
                    </a:p>
                  </a:txBody>
                  <a:tcPr/>
                </a:tc>
                <a:tc>
                  <a:txBody>
                    <a:bodyPr/>
                    <a:lstStyle/>
                    <a:p>
                      <a:pPr>
                        <a:defRPr sz="1100" b="1">
                          <a:solidFill>
                            <a:srgbClr val="003366"/>
                          </a:solidFill>
                          <a:latin typeface="Calibri"/>
                        </a:defRPr>
                      </a:pPr>
                      <a:r>
                        <a:rPr dirty="0"/>
                        <a:t>1.86</a:t>
                      </a:r>
                    </a:p>
                  </a:txBody>
                  <a:tcPr/>
                </a:tc>
                <a:tc>
                  <a:txBody>
                    <a:bodyPr/>
                    <a:lstStyle/>
                    <a:p>
                      <a:pPr>
                        <a:defRPr sz="1100">
                          <a:latin typeface="Calibri"/>
                        </a:defRPr>
                      </a:pPr>
                      <a:r>
                        <a:t>%</a:t>
                      </a:r>
                    </a:p>
                  </a:txBody>
                  <a:tcPr/>
                </a:tc>
                <a:extLst>
                  <a:ext uri="{0D108BD9-81ED-4DB2-BD59-A6C34878D82A}">
                    <a16:rowId xmlns:a16="http://schemas.microsoft.com/office/drawing/2014/main" val="10002"/>
                  </a:ext>
                </a:extLst>
              </a:tr>
              <a:tr h="415636">
                <a:tc>
                  <a:txBody>
                    <a:bodyPr/>
                    <a:lstStyle/>
                    <a:p>
                      <a:pPr>
                        <a:defRPr sz="1100">
                          <a:latin typeface="Calibri"/>
                        </a:defRPr>
                      </a:pPr>
                      <a:r>
                        <a:t>Energy Recuperation</a:t>
                      </a:r>
                    </a:p>
                  </a:txBody>
                  <a:tcPr/>
                </a:tc>
                <a:tc>
                  <a:txBody>
                    <a:bodyPr/>
                    <a:lstStyle/>
                    <a:p>
                      <a:pPr>
                        <a:defRPr sz="1100" b="1">
                          <a:solidFill>
                            <a:srgbClr val="003366"/>
                          </a:solidFill>
                          <a:latin typeface="Calibri"/>
                        </a:defRPr>
                      </a:pPr>
                      <a:r>
                        <a:rPr dirty="0"/>
                        <a:t>92.0</a:t>
                      </a:r>
                    </a:p>
                  </a:txBody>
                  <a:tcPr/>
                </a:tc>
                <a:tc>
                  <a:txBody>
                    <a:bodyPr/>
                    <a:lstStyle/>
                    <a:p>
                      <a:pPr>
                        <a:defRPr sz="1100">
                          <a:latin typeface="Calibri"/>
                        </a:defRPr>
                      </a:pPr>
                      <a:r>
                        <a:t>%</a:t>
                      </a:r>
                    </a:p>
                  </a:txBody>
                  <a:tcPr/>
                </a:tc>
                <a:extLst>
                  <a:ext uri="{0D108BD9-81ED-4DB2-BD59-A6C34878D82A}">
                    <a16:rowId xmlns:a16="http://schemas.microsoft.com/office/drawing/2014/main" val="10003"/>
                  </a:ext>
                </a:extLst>
              </a:tr>
              <a:tr h="415636">
                <a:tc>
                  <a:txBody>
                    <a:bodyPr/>
                    <a:lstStyle/>
                    <a:p>
                      <a:pPr>
                        <a:defRPr sz="1100">
                          <a:latin typeface="Calibri"/>
                        </a:defRPr>
                      </a:pPr>
                      <a:r>
                        <a:t>EV Mode Share</a:t>
                      </a:r>
                    </a:p>
                  </a:txBody>
                  <a:tcPr/>
                </a:tc>
                <a:tc>
                  <a:txBody>
                    <a:bodyPr/>
                    <a:lstStyle/>
                    <a:p>
                      <a:pPr>
                        <a:defRPr sz="1100" b="1">
                          <a:solidFill>
                            <a:srgbClr val="003366"/>
                          </a:solidFill>
                          <a:latin typeface="Calibri"/>
                        </a:defRPr>
                      </a:pPr>
                      <a:r>
                        <a:rPr dirty="0"/>
                        <a:t>39.9</a:t>
                      </a:r>
                    </a:p>
                  </a:txBody>
                  <a:tcPr/>
                </a:tc>
                <a:tc>
                  <a:txBody>
                    <a:bodyPr/>
                    <a:lstStyle/>
                    <a:p>
                      <a:pPr>
                        <a:defRPr sz="1100">
                          <a:latin typeface="Calibri"/>
                        </a:defRPr>
                      </a:pPr>
                      <a:r>
                        <a:t>%</a:t>
                      </a:r>
                    </a:p>
                  </a:txBody>
                  <a:tcPr/>
                </a:tc>
                <a:extLst>
                  <a:ext uri="{0D108BD9-81ED-4DB2-BD59-A6C34878D82A}">
                    <a16:rowId xmlns:a16="http://schemas.microsoft.com/office/drawing/2014/main" val="10004"/>
                  </a:ext>
                </a:extLst>
              </a:tr>
              <a:tr h="415636">
                <a:tc>
                  <a:txBody>
                    <a:bodyPr/>
                    <a:lstStyle/>
                    <a:p>
                      <a:pPr>
                        <a:defRPr sz="1100">
                          <a:latin typeface="Calibri"/>
                        </a:defRPr>
                      </a:pPr>
                      <a:r>
                        <a:t>Hybrid Mode Share</a:t>
                      </a:r>
                    </a:p>
                  </a:txBody>
                  <a:tcPr/>
                </a:tc>
                <a:tc>
                  <a:txBody>
                    <a:bodyPr/>
                    <a:lstStyle/>
                    <a:p>
                      <a:pPr>
                        <a:defRPr sz="1100" b="1">
                          <a:solidFill>
                            <a:srgbClr val="003366"/>
                          </a:solidFill>
                          <a:latin typeface="Calibri"/>
                        </a:defRPr>
                      </a:pPr>
                      <a:r>
                        <a:t>13.8</a:t>
                      </a:r>
                    </a:p>
                  </a:txBody>
                  <a:tcPr/>
                </a:tc>
                <a:tc>
                  <a:txBody>
                    <a:bodyPr/>
                    <a:lstStyle/>
                    <a:p>
                      <a:pPr>
                        <a:defRPr sz="1100">
                          <a:latin typeface="Calibri"/>
                        </a:defRPr>
                      </a:pPr>
                      <a:r>
                        <a:t>%</a:t>
                      </a:r>
                    </a:p>
                  </a:txBody>
                  <a:tcPr/>
                </a:tc>
                <a:extLst>
                  <a:ext uri="{0D108BD9-81ED-4DB2-BD59-A6C34878D82A}">
                    <a16:rowId xmlns:a16="http://schemas.microsoft.com/office/drawing/2014/main" val="10005"/>
                  </a:ext>
                </a:extLst>
              </a:tr>
              <a:tr h="415636">
                <a:tc>
                  <a:txBody>
                    <a:bodyPr/>
                    <a:lstStyle/>
                    <a:p>
                      <a:pPr>
                        <a:defRPr sz="1100">
                          <a:latin typeface="Calibri"/>
                        </a:defRPr>
                      </a:pPr>
                      <a:r>
                        <a:t>ICE Mode Share</a:t>
                      </a:r>
                    </a:p>
                  </a:txBody>
                  <a:tcPr/>
                </a:tc>
                <a:tc>
                  <a:txBody>
                    <a:bodyPr/>
                    <a:lstStyle/>
                    <a:p>
                      <a:pPr>
                        <a:defRPr sz="1100" b="1">
                          <a:solidFill>
                            <a:srgbClr val="003366"/>
                          </a:solidFill>
                          <a:latin typeface="Calibri"/>
                        </a:defRPr>
                      </a:pPr>
                      <a:r>
                        <a:t>17.3</a:t>
                      </a:r>
                    </a:p>
                  </a:txBody>
                  <a:tcPr/>
                </a:tc>
                <a:tc>
                  <a:txBody>
                    <a:bodyPr/>
                    <a:lstStyle/>
                    <a:p>
                      <a:pPr>
                        <a:defRPr sz="1100">
                          <a:latin typeface="Calibri"/>
                        </a:defRPr>
                      </a:pPr>
                      <a:r>
                        <a:t>%</a:t>
                      </a:r>
                    </a:p>
                  </a:txBody>
                  <a:tcPr/>
                </a:tc>
                <a:extLst>
                  <a:ext uri="{0D108BD9-81ED-4DB2-BD59-A6C34878D82A}">
                    <a16:rowId xmlns:a16="http://schemas.microsoft.com/office/drawing/2014/main" val="10006"/>
                  </a:ext>
                </a:extLst>
              </a:tr>
              <a:tr h="415636">
                <a:tc>
                  <a:txBody>
                    <a:bodyPr/>
                    <a:lstStyle/>
                    <a:p>
                      <a:pPr>
                        <a:defRPr sz="1100">
                          <a:latin typeface="Calibri"/>
                        </a:defRPr>
                      </a:pPr>
                      <a:r>
                        <a:t>Operating Cost</a:t>
                      </a:r>
                    </a:p>
                  </a:txBody>
                  <a:tcPr/>
                </a:tc>
                <a:tc>
                  <a:txBody>
                    <a:bodyPr/>
                    <a:lstStyle/>
                    <a:p>
                      <a:pPr>
                        <a:defRPr sz="1100" b="1">
                          <a:solidFill>
                            <a:srgbClr val="003366"/>
                          </a:solidFill>
                          <a:latin typeface="Calibri"/>
                        </a:defRPr>
                      </a:pPr>
                      <a:r>
                        <a:t>0.0358</a:t>
                      </a:r>
                    </a:p>
                  </a:txBody>
                  <a:tcPr/>
                </a:tc>
                <a:tc>
                  <a:txBody>
                    <a:bodyPr/>
                    <a:lstStyle/>
                    <a:p>
                      <a:pPr>
                        <a:defRPr sz="1100">
                          <a:latin typeface="Calibri"/>
                        </a:defRPr>
                      </a:pPr>
                      <a:r>
                        <a:t>Currency/km</a:t>
                      </a:r>
                    </a:p>
                  </a:txBody>
                  <a:tcPr/>
                </a:tc>
                <a:extLst>
                  <a:ext uri="{0D108BD9-81ED-4DB2-BD59-A6C34878D82A}">
                    <a16:rowId xmlns:a16="http://schemas.microsoft.com/office/drawing/2014/main" val="10007"/>
                  </a:ext>
                </a:extLst>
              </a:tr>
              <a:tr h="415636">
                <a:tc>
                  <a:txBody>
                    <a:bodyPr/>
                    <a:lstStyle/>
                    <a:p>
                      <a:pPr>
                        <a:defRPr sz="1100">
                          <a:latin typeface="Calibri"/>
                        </a:defRPr>
                      </a:pPr>
                      <a:r>
                        <a:t>CO2 Emissions</a:t>
                      </a:r>
                    </a:p>
                  </a:txBody>
                  <a:tcPr/>
                </a:tc>
                <a:tc>
                  <a:txBody>
                    <a:bodyPr/>
                    <a:lstStyle/>
                    <a:p>
                      <a:pPr>
                        <a:defRPr sz="1100" b="1">
                          <a:solidFill>
                            <a:srgbClr val="003366"/>
                          </a:solidFill>
                          <a:latin typeface="Calibri"/>
                        </a:defRPr>
                      </a:pPr>
                      <a:r>
                        <a:t>29.3</a:t>
                      </a:r>
                    </a:p>
                  </a:txBody>
                  <a:tcPr/>
                </a:tc>
                <a:tc>
                  <a:txBody>
                    <a:bodyPr/>
                    <a:lstStyle/>
                    <a:p>
                      <a:pPr>
                        <a:defRPr sz="1100">
                          <a:latin typeface="Calibri"/>
                        </a:defRPr>
                      </a:pPr>
                      <a:r>
                        <a:t>g/km</a:t>
                      </a:r>
                    </a:p>
                  </a:txBody>
                  <a:tcPr/>
                </a:tc>
                <a:extLst>
                  <a:ext uri="{0D108BD9-81ED-4DB2-BD59-A6C34878D82A}">
                    <a16:rowId xmlns:a16="http://schemas.microsoft.com/office/drawing/2014/main" val="10008"/>
                  </a:ext>
                </a:extLst>
              </a:tr>
              <a:tr h="415636">
                <a:tc>
                  <a:txBody>
                    <a:bodyPr/>
                    <a:lstStyle/>
                    <a:p>
                      <a:pPr>
                        <a:defRPr sz="1100">
                          <a:latin typeface="Calibri"/>
                        </a:defRPr>
                      </a:pPr>
                      <a:r>
                        <a:t>Average ICE Efficiency</a:t>
                      </a:r>
                    </a:p>
                  </a:txBody>
                  <a:tcPr/>
                </a:tc>
                <a:tc>
                  <a:txBody>
                    <a:bodyPr/>
                    <a:lstStyle/>
                    <a:p>
                      <a:pPr>
                        <a:defRPr sz="1100" b="1">
                          <a:solidFill>
                            <a:srgbClr val="003366"/>
                          </a:solidFill>
                          <a:latin typeface="Calibri"/>
                        </a:defRPr>
                      </a:pPr>
                      <a:r>
                        <a:t>33.2</a:t>
                      </a:r>
                    </a:p>
                  </a:txBody>
                  <a:tcPr/>
                </a:tc>
                <a:tc>
                  <a:txBody>
                    <a:bodyPr/>
                    <a:lstStyle/>
                    <a:p>
                      <a:pPr>
                        <a:defRPr sz="1100">
                          <a:latin typeface="Calibri"/>
                        </a:defRPr>
                      </a:pPr>
                      <a:r>
                        <a:t>%</a:t>
                      </a:r>
                    </a:p>
                  </a:txBody>
                  <a:tcPr/>
                </a:tc>
                <a:extLst>
                  <a:ext uri="{0D108BD9-81ED-4DB2-BD59-A6C34878D82A}">
                    <a16:rowId xmlns:a16="http://schemas.microsoft.com/office/drawing/2014/main" val="10009"/>
                  </a:ext>
                </a:extLst>
              </a:tr>
              <a:tr h="415640">
                <a:tc>
                  <a:txBody>
                    <a:bodyPr/>
                    <a:lstStyle/>
                    <a:p>
                      <a:pPr>
                        <a:defRPr sz="1100">
                          <a:latin typeface="Calibri"/>
                        </a:defRPr>
                      </a:pPr>
                      <a:r>
                        <a:t>Peak Battery Power</a:t>
                      </a:r>
                    </a:p>
                  </a:txBody>
                  <a:tcPr/>
                </a:tc>
                <a:tc>
                  <a:txBody>
                    <a:bodyPr/>
                    <a:lstStyle/>
                    <a:p>
                      <a:pPr>
                        <a:defRPr sz="1100" b="1">
                          <a:solidFill>
                            <a:srgbClr val="003366"/>
                          </a:solidFill>
                          <a:latin typeface="Calibri"/>
                        </a:defRPr>
                      </a:pPr>
                      <a:r>
                        <a:t>22.17</a:t>
                      </a:r>
                    </a:p>
                  </a:txBody>
                  <a:tcPr/>
                </a:tc>
                <a:tc>
                  <a:txBody>
                    <a:bodyPr/>
                    <a:lstStyle/>
                    <a:p>
                      <a:pPr>
                        <a:defRPr sz="1100">
                          <a:latin typeface="Calibri"/>
                        </a:defRPr>
                      </a:pPr>
                      <a:r>
                        <a:rPr dirty="0"/>
                        <a:t>kW</a:t>
                      </a:r>
                    </a:p>
                  </a:txBody>
                  <a:tcPr/>
                </a:tc>
                <a:extLst>
                  <a:ext uri="{0D108BD9-81ED-4DB2-BD59-A6C34878D82A}">
                    <a16:rowId xmlns:a16="http://schemas.microsoft.com/office/drawing/2014/main" val="10010"/>
                  </a:ext>
                </a:extLst>
              </a:tr>
            </a:tbl>
          </a:graphicData>
        </a:graphic>
      </p:graphicFrame>
      <p:sp>
        <p:nvSpPr>
          <p:cNvPr id="4" name="TextBox 3"/>
          <p:cNvSpPr txBox="1"/>
          <p:nvPr/>
        </p:nvSpPr>
        <p:spPr>
          <a:xfrm>
            <a:off x="5357579" y="1188720"/>
            <a:ext cx="3474720" cy="4572000"/>
          </a:xfrm>
          <a:prstGeom prst="rect">
            <a:avLst/>
          </a:prstGeom>
          <a:noFill/>
        </p:spPr>
        <p:txBody>
          <a:bodyPr wrap="square">
            <a:spAutoFit/>
          </a:bodyPr>
          <a:lstStyle/>
          <a:p>
            <a:pPr>
              <a:spcAft>
                <a:spcPts val="800"/>
              </a:spcAft>
            </a:pPr>
            <a:r>
              <a:rPr sz="1300" b="1" dirty="0">
                <a:solidFill>
                  <a:srgbClr val="102C57"/>
                </a:solidFill>
                <a:latin typeface="Calibri"/>
              </a:rPr>
              <a:t>Fuel Economy (1.27 L/100km): </a:t>
            </a:r>
            <a:r>
              <a:rPr sz="1300" b="0" dirty="0">
                <a:solidFill>
                  <a:srgbClr val="282828"/>
                </a:solidFill>
                <a:latin typeface="Calibri"/>
              </a:rPr>
              <a:t>Achieved significant fuel reduction by leveraging EV mode during low-speed urban phases.</a:t>
            </a:r>
          </a:p>
          <a:p>
            <a:pPr>
              <a:spcAft>
                <a:spcPts val="800"/>
              </a:spcAft>
            </a:pPr>
            <a:r>
              <a:rPr sz="1300" b="1" dirty="0">
                <a:solidFill>
                  <a:srgbClr val="102C57"/>
                </a:solidFill>
                <a:latin typeface="Calibri"/>
              </a:rPr>
              <a:t>High Energy Recuperation (92.0%): </a:t>
            </a:r>
            <a:r>
              <a:rPr sz="1300" b="0" dirty="0">
                <a:solidFill>
                  <a:srgbClr val="282828"/>
                </a:solidFill>
                <a:latin typeface="Calibri"/>
              </a:rPr>
              <a:t>Effective regenerative braking controller captures majority of deceleration kinetic energy.</a:t>
            </a:r>
          </a:p>
          <a:p>
            <a:pPr>
              <a:spcAft>
                <a:spcPts val="800"/>
              </a:spcAft>
            </a:pPr>
            <a:r>
              <a:rPr sz="1300" b="1" dirty="0">
                <a:solidFill>
                  <a:srgbClr val="102C57"/>
                </a:solidFill>
                <a:latin typeface="Calibri"/>
              </a:rPr>
              <a:t>Tight SOC Regulation (1.86% RMS): </a:t>
            </a:r>
            <a:r>
              <a:rPr sz="1300" b="0" dirty="0">
                <a:solidFill>
                  <a:srgbClr val="282828"/>
                </a:solidFill>
                <a:latin typeface="Calibri"/>
              </a:rPr>
              <a:t>The predictive EMS maintained battery charge balance without deep depletion spikes.</a:t>
            </a:r>
          </a:p>
          <a:p>
            <a:pPr>
              <a:spcAft>
                <a:spcPts val="800"/>
              </a:spcAft>
            </a:pPr>
            <a:r>
              <a:rPr sz="1300" b="1" dirty="0">
                <a:solidFill>
                  <a:srgbClr val="102C57"/>
                </a:solidFill>
                <a:latin typeface="Calibri"/>
              </a:rPr>
              <a:t>Optimal Engine Loading (33.2% Eff): </a:t>
            </a:r>
            <a:r>
              <a:rPr sz="1300" b="0" dirty="0">
                <a:solidFill>
                  <a:srgbClr val="282828"/>
                </a:solidFill>
                <a:latin typeface="Calibri"/>
              </a:rPr>
              <a:t>ICE operated strictly near its peak brake-thermal efficiency sweet spot.</a:t>
            </a:r>
          </a:p>
        </p:txBody>
      </p:sp>
    </p:spTree>
    <p:extLst>
      <p:ext uri="{BB962C8B-B14F-4D97-AF65-F5344CB8AC3E}">
        <p14:creationId xmlns:p14="http://schemas.microsoft.com/office/powerpoint/2010/main" val="2024651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770" y="593367"/>
            <a:ext cx="8048529" cy="763500"/>
          </a:xfrm>
        </p:spPr>
        <p:txBody>
          <a:bodyPr/>
          <a:lstStyle/>
          <a:p>
            <a:r>
              <a:rPr lang="en-US" dirty="0">
                <a:latin typeface="Times New Roman" panose="02020603050405020304" pitchFamily="18" charset="0"/>
                <a:cs typeface="Times New Roman" panose="02020603050405020304" pitchFamily="18" charset="0"/>
              </a:rPr>
              <a:t>Conclusions</a:t>
            </a:r>
          </a:p>
        </p:txBody>
      </p:sp>
      <p:sp>
        <p:nvSpPr>
          <p:cNvPr id="3" name="Text Placeholder 2"/>
          <p:cNvSpPr>
            <a:spLocks noGrp="1"/>
          </p:cNvSpPr>
          <p:nvPr>
            <p:ph type="body" idx="1"/>
          </p:nvPr>
        </p:nvSpPr>
        <p:spPr>
          <a:xfrm>
            <a:off x="783770" y="1356867"/>
            <a:ext cx="8048530" cy="4907766"/>
          </a:xfrm>
        </p:spPr>
        <p:txBody>
          <a:bodyPr wrap="square"/>
          <a:lstStyle/>
          <a:p>
            <a:pPr algn="just">
              <a:lnSpc>
                <a:spcPct val="150000"/>
              </a:lnSpc>
              <a:spcAft>
                <a:spcPts val="800"/>
              </a:spcAft>
            </a:pPr>
            <a:r>
              <a:rPr sz="1400" b="1" dirty="0">
                <a:solidFill>
                  <a:srgbClr val="102C57"/>
                </a:solidFill>
                <a:latin typeface="Calibri"/>
              </a:rPr>
              <a:t>Successful PoC Demonstration: </a:t>
            </a:r>
            <a:r>
              <a:rPr sz="1400" b="0" dirty="0">
                <a:solidFill>
                  <a:srgbClr val="282828"/>
                </a:solidFill>
                <a:latin typeface="Calibri"/>
              </a:rPr>
              <a:t>Successfully designed and validated a simulation-driven Proof-of-Concept for an AI-assisted supervisory Energy Management System for HEVs.</a:t>
            </a:r>
          </a:p>
          <a:p>
            <a:pPr>
              <a:spcAft>
                <a:spcPts val="800"/>
              </a:spcAft>
            </a:pPr>
            <a:r>
              <a:rPr sz="1400" b="1" dirty="0">
                <a:solidFill>
                  <a:srgbClr val="102C57"/>
                </a:solidFill>
                <a:latin typeface="Calibri"/>
              </a:rPr>
              <a:t>Predictive Intelligence Feasibility: </a:t>
            </a:r>
            <a:r>
              <a:rPr sz="1400" b="0" dirty="0">
                <a:solidFill>
                  <a:srgbClr val="282828"/>
                </a:solidFill>
                <a:latin typeface="Calibri"/>
              </a:rPr>
              <a:t>Proved that lag-based Random Forest demand forecasting effectively anticipates future vehicle speed, acceleration, and power demand (R2 &gt; 0.91).</a:t>
            </a:r>
          </a:p>
          <a:p>
            <a:pPr>
              <a:spcAft>
                <a:spcPts val="800"/>
              </a:spcAft>
            </a:pPr>
            <a:r>
              <a:rPr sz="1400" b="1" dirty="0">
                <a:solidFill>
                  <a:srgbClr val="102C57"/>
                </a:solidFill>
                <a:latin typeface="Calibri"/>
              </a:rPr>
              <a:t>Deterministic Safety &amp; Reliability: </a:t>
            </a:r>
            <a:r>
              <a:rPr sz="1400" b="0" dirty="0">
                <a:solidFill>
                  <a:srgbClr val="282828"/>
                </a:solidFill>
                <a:latin typeface="Calibri"/>
              </a:rPr>
              <a:t>Demonstrated that coupling ML advisory predictions with a deterministic safety override layer eliminates risky mode allocations while optimizing energy distribution.</a:t>
            </a:r>
          </a:p>
          <a:p>
            <a:pPr>
              <a:spcAft>
                <a:spcPts val="800"/>
              </a:spcAft>
            </a:pPr>
            <a:r>
              <a:rPr sz="1400" b="1" dirty="0">
                <a:solidFill>
                  <a:srgbClr val="102C57"/>
                </a:solidFill>
                <a:latin typeface="Calibri"/>
              </a:rPr>
              <a:t>Empirical Validation: </a:t>
            </a:r>
            <a:r>
              <a:rPr sz="1400" b="0" dirty="0">
                <a:solidFill>
                  <a:srgbClr val="282828"/>
                </a:solidFill>
                <a:latin typeface="Calibri"/>
              </a:rPr>
              <a:t>Achieved 1.27 L/100km fuel economy, 92% regenerative energy capture, and 1.86% SOC RMS deviation across multi-scenario drive cycles.</a:t>
            </a:r>
          </a:p>
          <a:p>
            <a:pPr>
              <a:spcAft>
                <a:spcPts val="800"/>
              </a:spcAft>
            </a:pPr>
            <a:r>
              <a:rPr sz="1400" b="1" dirty="0">
                <a:solidFill>
                  <a:srgbClr val="102C57"/>
                </a:solidFill>
                <a:latin typeface="Calibri"/>
              </a:rPr>
              <a:t>Personal Technical Growth: </a:t>
            </a:r>
            <a:r>
              <a:rPr sz="1400" b="0" dirty="0">
                <a:solidFill>
                  <a:srgbClr val="282828"/>
                </a:solidFill>
                <a:latin typeface="Calibri"/>
              </a:rPr>
              <a:t>Strengthened core competencies in time-series feature engineering, machine learning regression, modular automotive software architecture, and simulation-based validation.</a:t>
            </a:r>
          </a:p>
        </p:txBody>
      </p:sp>
    </p:spTree>
    <p:extLst>
      <p:ext uri="{BB962C8B-B14F-4D97-AF65-F5344CB8AC3E}">
        <p14:creationId xmlns:p14="http://schemas.microsoft.com/office/powerpoint/2010/main" val="3395215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770" y="593367"/>
            <a:ext cx="8048529" cy="763500"/>
          </a:xfrm>
        </p:spPr>
        <p:txBody>
          <a:bodyPr/>
          <a:lstStyle/>
          <a:p>
            <a:r>
              <a:rPr lang="en-US" dirty="0">
                <a:latin typeface="Times New Roman" panose="02020603050405020304" pitchFamily="18" charset="0"/>
                <a:cs typeface="Times New Roman" panose="02020603050405020304" pitchFamily="18" charset="0"/>
              </a:rPr>
              <a:t>Future Scope</a:t>
            </a:r>
          </a:p>
        </p:txBody>
      </p:sp>
      <p:sp>
        <p:nvSpPr>
          <p:cNvPr id="3" name="Text Placeholder 2"/>
          <p:cNvSpPr>
            <a:spLocks noGrp="1"/>
          </p:cNvSpPr>
          <p:nvPr>
            <p:ph type="body" idx="1"/>
          </p:nvPr>
        </p:nvSpPr>
        <p:spPr>
          <a:xfrm>
            <a:off x="783770" y="1356867"/>
            <a:ext cx="8048530" cy="4907766"/>
          </a:xfrm>
        </p:spPr>
        <p:txBody>
          <a:bodyPr wrap="square"/>
          <a:lstStyle/>
          <a:p>
            <a:pPr algn="just">
              <a:lnSpc>
                <a:spcPct val="150000"/>
              </a:lnSpc>
              <a:spcAft>
                <a:spcPts val="800"/>
              </a:spcAft>
            </a:pPr>
            <a:r>
              <a:rPr sz="1400" b="1" dirty="0">
                <a:solidFill>
                  <a:srgbClr val="102C57"/>
                </a:solidFill>
                <a:latin typeface="Calibri"/>
              </a:rPr>
              <a:t>Embedded ECU / Edge Deployment: </a:t>
            </a:r>
            <a:r>
              <a:rPr sz="1400" b="0" dirty="0">
                <a:solidFill>
                  <a:srgbClr val="282828"/>
                </a:solidFill>
                <a:latin typeface="Calibri"/>
              </a:rPr>
              <a:t>Porting trained Random Forest and feature-scaling pipelines to embedded automotive microcontrollers (C++ / ONNX Runtime) with low inference latency.</a:t>
            </a:r>
          </a:p>
          <a:p>
            <a:pPr>
              <a:spcAft>
                <a:spcPts val="800"/>
              </a:spcAft>
            </a:pPr>
            <a:r>
              <a:rPr sz="1400" b="1" dirty="0">
                <a:solidFill>
                  <a:srgbClr val="102C57"/>
                </a:solidFill>
                <a:latin typeface="Calibri"/>
              </a:rPr>
              <a:t>V2X &amp; Real-Time Telemetry: </a:t>
            </a:r>
            <a:r>
              <a:rPr sz="1400" b="0" dirty="0">
                <a:solidFill>
                  <a:srgbClr val="282828"/>
                </a:solidFill>
                <a:latin typeface="Calibri"/>
              </a:rPr>
              <a:t>Integrating live GPS navigation, terrain elevation profiles, and CAN/CAN-FD bus communication for real-time look-ahead horizon adjustment.</a:t>
            </a:r>
          </a:p>
          <a:p>
            <a:pPr>
              <a:spcAft>
                <a:spcPts val="800"/>
              </a:spcAft>
            </a:pPr>
            <a:r>
              <a:rPr sz="1400" b="1" dirty="0">
                <a:solidFill>
                  <a:srgbClr val="102C57"/>
                </a:solidFill>
                <a:latin typeface="Calibri"/>
              </a:rPr>
              <a:t>Advanced Control Algorithms: </a:t>
            </a:r>
            <a:r>
              <a:rPr sz="1400" b="0" dirty="0">
                <a:solidFill>
                  <a:srgbClr val="282828"/>
                </a:solidFill>
                <a:latin typeface="Calibri"/>
              </a:rPr>
              <a:t>Investigating Model Predictive Control (MPC) and Deep Reinforcement Learning (DRL) for continuous closed-loop torque-split optimization.</a:t>
            </a:r>
          </a:p>
          <a:p>
            <a:pPr>
              <a:spcAft>
                <a:spcPts val="800"/>
              </a:spcAft>
            </a:pPr>
            <a:r>
              <a:rPr sz="1400" b="1" dirty="0">
                <a:solidFill>
                  <a:srgbClr val="102C57"/>
                </a:solidFill>
                <a:latin typeface="Calibri"/>
              </a:rPr>
              <a:t>HIL &amp; Vehicle Dynamometer Testing: </a:t>
            </a:r>
            <a:r>
              <a:rPr sz="1400" b="0" dirty="0">
                <a:solidFill>
                  <a:srgbClr val="282828"/>
                </a:solidFill>
                <a:latin typeface="Calibri"/>
              </a:rPr>
              <a:t>Transitioning from software simulation to Hardware-in-the-Loop (HIL) testing and chassis dynamometer validation on physical vehicle hardware.</a:t>
            </a:r>
          </a:p>
          <a:p>
            <a:pPr>
              <a:spcAft>
                <a:spcPts val="800"/>
              </a:spcAft>
            </a:pPr>
            <a:r>
              <a:rPr sz="1400" b="1" dirty="0">
                <a:solidFill>
                  <a:srgbClr val="102C57"/>
                </a:solidFill>
                <a:latin typeface="Calibri"/>
              </a:rPr>
              <a:t>Battery Degradation &amp; Thermal EMS: </a:t>
            </a:r>
            <a:r>
              <a:rPr sz="1400" b="0" dirty="0">
                <a:solidFill>
                  <a:srgbClr val="282828"/>
                </a:solidFill>
                <a:latin typeface="Calibri"/>
              </a:rPr>
              <a:t>Incorporating electrochemical aging models and active battery thermal management into the predictive decision loop.</a:t>
            </a:r>
          </a:p>
        </p:txBody>
      </p:sp>
    </p:spTree>
    <p:extLst>
      <p:ext uri="{BB962C8B-B14F-4D97-AF65-F5344CB8AC3E}">
        <p14:creationId xmlns:p14="http://schemas.microsoft.com/office/powerpoint/2010/main" val="3741029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428" y="593367"/>
            <a:ext cx="8015871" cy="763500"/>
          </a:xfrm>
        </p:spPr>
        <p:txBody>
          <a:bodyPr/>
          <a:lstStyle/>
          <a:p>
            <a:r>
              <a:rPr lang="en-US" dirty="0">
                <a:latin typeface="Times New Roman" panose="02020603050405020304" pitchFamily="18" charset="0"/>
                <a:cs typeface="Times New Roman" panose="02020603050405020304" pitchFamily="18" charset="0"/>
              </a:rPr>
              <a:t>References</a:t>
            </a:r>
          </a:p>
        </p:txBody>
      </p:sp>
      <p:sp>
        <p:nvSpPr>
          <p:cNvPr id="3" name="Text Placeholder 2">
            <a:extLst>
              <a:ext uri="{FF2B5EF4-FFF2-40B4-BE49-F238E27FC236}">
                <a16:creationId xmlns:a16="http://schemas.microsoft.com/office/drawing/2014/main" id="{61D0D167-1B43-F972-4DE2-87246B71C144}"/>
              </a:ext>
            </a:extLst>
          </p:cNvPr>
          <p:cNvSpPr>
            <a:spLocks noGrp="1"/>
          </p:cNvSpPr>
          <p:nvPr>
            <p:ph type="body" idx="1"/>
          </p:nvPr>
        </p:nvSpPr>
        <p:spPr>
          <a:xfrm>
            <a:off x="783770" y="1356867"/>
            <a:ext cx="8048530" cy="4907766"/>
          </a:xfrm>
        </p:spPr>
        <p:txBody>
          <a:bodyPr wrap="square"/>
          <a:lstStyle/>
          <a:p>
            <a:pPr marL="393700" indent="-342900" algn="l">
              <a:lnSpc>
                <a:spcPct val="107000"/>
              </a:lnSpc>
              <a:spcAft>
                <a:spcPts val="600"/>
              </a:spcAft>
              <a:buSzPct val="100000"/>
              <a:buFont typeface="+mj-lt"/>
              <a:buAutoNum type="arabicPeriod"/>
              <a:defRPr sz="1200" b="0">
                <a:solidFill>
                  <a:srgbClr val="282828"/>
                </a:solidFill>
                <a:latin typeface="Calibri"/>
              </a:defRPr>
            </a:pPr>
            <a:r>
              <a:rPr dirty="0"/>
              <a:t>[1] A. Sciarretta and L. </a:t>
            </a:r>
            <a:r>
              <a:rPr dirty="0" err="1"/>
              <a:t>Guzzella</a:t>
            </a:r>
            <a:r>
              <a:rPr dirty="0"/>
              <a:t>, 'Control of hybrid electric vehicles,' IEEE Control Systems Magazine, vol. 27, no. 2, pp. 60–70, Apr. 2007.</a:t>
            </a:r>
          </a:p>
          <a:p>
            <a:pPr algn="l">
              <a:spcAft>
                <a:spcPts val="600"/>
              </a:spcAft>
              <a:defRPr sz="1200" b="0">
                <a:solidFill>
                  <a:srgbClr val="282828"/>
                </a:solidFill>
                <a:latin typeface="Calibri"/>
              </a:defRPr>
            </a:pPr>
            <a:r>
              <a:rPr dirty="0"/>
              <a:t>[2] C. C. Chan, 'The state of the art of electric, hybrid, and fuel cell vehicles,' Proceedings of the IEEE, vol. 95, no. 4, pp. 704–718, Apr. 2007.</a:t>
            </a:r>
          </a:p>
          <a:p>
            <a:pPr algn="l">
              <a:spcAft>
                <a:spcPts val="600"/>
              </a:spcAft>
              <a:defRPr sz="1200" b="0">
                <a:solidFill>
                  <a:srgbClr val="282828"/>
                </a:solidFill>
                <a:latin typeface="Calibri"/>
              </a:defRPr>
            </a:pPr>
            <a:r>
              <a:rPr dirty="0"/>
              <a:t>[3] I. Husain, Electric and Hybrid Vehicles: Design Fundamentals, 3rd ed., Boca Raton, FL, USA: CRC Press, 2021.</a:t>
            </a:r>
          </a:p>
          <a:p>
            <a:pPr algn="l">
              <a:spcAft>
                <a:spcPts val="600"/>
              </a:spcAft>
              <a:defRPr sz="1200" b="0">
                <a:solidFill>
                  <a:srgbClr val="282828"/>
                </a:solidFill>
                <a:latin typeface="Calibri"/>
              </a:defRPr>
            </a:pPr>
            <a:r>
              <a:rPr dirty="0"/>
              <a:t>[4] L. </a:t>
            </a:r>
            <a:r>
              <a:rPr dirty="0" err="1"/>
              <a:t>Breiman</a:t>
            </a:r>
            <a:r>
              <a:rPr dirty="0"/>
              <a:t>, 'Random forests,' Machine Learning, vol. 45, no. 1, pp. 5–32, 2001.</a:t>
            </a:r>
          </a:p>
          <a:p>
            <a:pPr algn="l">
              <a:spcAft>
                <a:spcPts val="600"/>
              </a:spcAft>
              <a:defRPr sz="1200" b="0">
                <a:solidFill>
                  <a:srgbClr val="282828"/>
                </a:solidFill>
                <a:latin typeface="Calibri"/>
              </a:defRPr>
            </a:pPr>
            <a:r>
              <a:rPr dirty="0"/>
              <a:t>[5] F. </a:t>
            </a:r>
            <a:r>
              <a:rPr dirty="0" err="1"/>
              <a:t>Aminifar</a:t>
            </a:r>
            <a:r>
              <a:rPr dirty="0"/>
              <a:t>, M. Abedini, and T. </a:t>
            </a:r>
            <a:r>
              <a:rPr dirty="0" err="1"/>
              <a:t>Amraee</a:t>
            </a:r>
            <a:r>
              <a:rPr dirty="0"/>
              <a:t>, 'A review of power system protection and asset management with machine learning techniques,' Springer Nature, 2021.</a:t>
            </a:r>
          </a:p>
          <a:p>
            <a:pPr algn="l">
              <a:spcAft>
                <a:spcPts val="600"/>
              </a:spcAft>
              <a:defRPr sz="1200" b="0">
                <a:solidFill>
                  <a:srgbClr val="282828"/>
                </a:solidFill>
                <a:latin typeface="Calibri"/>
              </a:defRPr>
            </a:pPr>
            <a:r>
              <a:rPr dirty="0"/>
              <a:t>[6] UNECE, 'Worldwide Harmonized Light Vehicles Test Procedure (WLTP),' United Nations Economic Commission for Europe, Geneva, Switzerland, 2023.</a:t>
            </a:r>
          </a:p>
        </p:txBody>
      </p:sp>
    </p:spTree>
    <p:extLst>
      <p:ext uri="{BB962C8B-B14F-4D97-AF65-F5344CB8AC3E}">
        <p14:creationId xmlns:p14="http://schemas.microsoft.com/office/powerpoint/2010/main" val="1420049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AB6F3-A833-440A-9EA2-3F58E122453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Thank You</a:t>
            </a:r>
          </a:p>
        </p:txBody>
      </p:sp>
      <p:sp>
        <p:nvSpPr>
          <p:cNvPr id="3" name="Title 1">
            <a:extLst>
              <a:ext uri="{FF2B5EF4-FFF2-40B4-BE49-F238E27FC236}">
                <a16:creationId xmlns:a16="http://schemas.microsoft.com/office/drawing/2014/main" id="{77AAC3C9-DBB9-BAF0-284B-4089E804C154}"/>
              </a:ext>
            </a:extLst>
          </p:cNvPr>
          <p:cNvSpPr txBox="1">
            <a:spLocks/>
          </p:cNvSpPr>
          <p:nvPr/>
        </p:nvSpPr>
        <p:spPr>
          <a:xfrm>
            <a:off x="3726822" y="1745500"/>
            <a:ext cx="1690355" cy="1122300"/>
          </a:xfrm>
          <a:prstGeom prst="rect">
            <a:avLst/>
          </a:prstGeom>
          <a:no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R="0" lvl="0" algn="ctr" rtl="0">
              <a:lnSpc>
                <a:spcPct val="100000"/>
              </a:lnSpc>
              <a:spcBef>
                <a:spcPts val="0"/>
              </a:spcBef>
              <a:spcAft>
                <a:spcPts val="0"/>
              </a:spcAft>
              <a:buSzPts val="3600"/>
              <a:buFont typeface="Archivo Narrow"/>
              <a:buNone/>
              <a:defRPr sz="3600" b="1" i="0" u="none" strike="noStrike" cap="none">
                <a:solidFill>
                  <a:srgbClr val="000000"/>
                </a:solidFill>
                <a:latin typeface="Archivo Narrow"/>
                <a:ea typeface="Archivo Narrow"/>
                <a:cs typeface="Archivo Narrow"/>
                <a:sym typeface="Archivo Narrow"/>
              </a:defRPr>
            </a:lvl1pPr>
            <a:lvl2pPr lvl="1" algn="ctr">
              <a:spcBef>
                <a:spcPts val="0"/>
              </a:spcBef>
              <a:spcAft>
                <a:spcPts val="0"/>
              </a:spcAft>
              <a:buSzPts val="3600"/>
              <a:buFont typeface="Archivo Narrow"/>
              <a:buNone/>
              <a:defRPr sz="3600" b="1">
                <a:latin typeface="Archivo Narrow"/>
                <a:ea typeface="Archivo Narrow"/>
                <a:cs typeface="Archivo Narrow"/>
                <a:sym typeface="Archivo Narrow"/>
              </a:defRPr>
            </a:lvl2pPr>
            <a:lvl3pPr lvl="2" algn="ctr">
              <a:spcBef>
                <a:spcPts val="0"/>
              </a:spcBef>
              <a:spcAft>
                <a:spcPts val="0"/>
              </a:spcAft>
              <a:buSzPts val="3600"/>
              <a:buFont typeface="Archivo Narrow"/>
              <a:buNone/>
              <a:defRPr sz="3600" b="1">
                <a:latin typeface="Archivo Narrow"/>
                <a:ea typeface="Archivo Narrow"/>
                <a:cs typeface="Archivo Narrow"/>
                <a:sym typeface="Archivo Narrow"/>
              </a:defRPr>
            </a:lvl3pPr>
            <a:lvl4pPr lvl="3" algn="ctr">
              <a:spcBef>
                <a:spcPts val="0"/>
              </a:spcBef>
              <a:spcAft>
                <a:spcPts val="0"/>
              </a:spcAft>
              <a:buSzPts val="3600"/>
              <a:buFont typeface="Archivo Narrow"/>
              <a:buNone/>
              <a:defRPr sz="3600" b="1">
                <a:latin typeface="Archivo Narrow"/>
                <a:ea typeface="Archivo Narrow"/>
                <a:cs typeface="Archivo Narrow"/>
                <a:sym typeface="Archivo Narrow"/>
              </a:defRPr>
            </a:lvl4pPr>
            <a:lvl5pPr lvl="4" algn="ctr">
              <a:spcBef>
                <a:spcPts val="0"/>
              </a:spcBef>
              <a:spcAft>
                <a:spcPts val="0"/>
              </a:spcAft>
              <a:buSzPts val="3600"/>
              <a:buFont typeface="Archivo Narrow"/>
              <a:buNone/>
              <a:defRPr sz="3600" b="1">
                <a:latin typeface="Archivo Narrow"/>
                <a:ea typeface="Archivo Narrow"/>
                <a:cs typeface="Archivo Narrow"/>
                <a:sym typeface="Archivo Narrow"/>
              </a:defRPr>
            </a:lvl5pPr>
            <a:lvl6pPr lvl="5" algn="ctr">
              <a:spcBef>
                <a:spcPts val="0"/>
              </a:spcBef>
              <a:spcAft>
                <a:spcPts val="0"/>
              </a:spcAft>
              <a:buSzPts val="3600"/>
              <a:buFont typeface="Archivo Narrow"/>
              <a:buNone/>
              <a:defRPr sz="3600" b="1">
                <a:latin typeface="Archivo Narrow"/>
                <a:ea typeface="Archivo Narrow"/>
                <a:cs typeface="Archivo Narrow"/>
                <a:sym typeface="Archivo Narrow"/>
              </a:defRPr>
            </a:lvl6pPr>
            <a:lvl7pPr lvl="6" algn="ctr">
              <a:spcBef>
                <a:spcPts val="0"/>
              </a:spcBef>
              <a:spcAft>
                <a:spcPts val="0"/>
              </a:spcAft>
              <a:buSzPts val="3600"/>
              <a:buFont typeface="Archivo Narrow"/>
              <a:buNone/>
              <a:defRPr sz="3600" b="1">
                <a:latin typeface="Archivo Narrow"/>
                <a:ea typeface="Archivo Narrow"/>
                <a:cs typeface="Archivo Narrow"/>
                <a:sym typeface="Archivo Narrow"/>
              </a:defRPr>
            </a:lvl7pPr>
            <a:lvl8pPr lvl="7" algn="ctr">
              <a:spcBef>
                <a:spcPts val="0"/>
              </a:spcBef>
              <a:spcAft>
                <a:spcPts val="0"/>
              </a:spcAft>
              <a:buSzPts val="3600"/>
              <a:buFont typeface="Archivo Narrow"/>
              <a:buNone/>
              <a:defRPr sz="3600" b="1">
                <a:latin typeface="Archivo Narrow"/>
                <a:ea typeface="Archivo Narrow"/>
                <a:cs typeface="Archivo Narrow"/>
                <a:sym typeface="Archivo Narrow"/>
              </a:defRPr>
            </a:lvl8pPr>
            <a:lvl9pPr lvl="8" algn="ctr">
              <a:spcBef>
                <a:spcPts val="0"/>
              </a:spcBef>
              <a:spcAft>
                <a:spcPts val="0"/>
              </a:spcAft>
              <a:buSzPts val="3600"/>
              <a:buFont typeface="Archivo Narrow"/>
              <a:buNone/>
              <a:defRPr sz="3600" b="1">
                <a:latin typeface="Archivo Narrow"/>
                <a:ea typeface="Archivo Narrow"/>
                <a:cs typeface="Archivo Narrow"/>
                <a:sym typeface="Archivo Narrow"/>
              </a:defRPr>
            </a:lvl9pPr>
          </a:lstStyle>
          <a:p>
            <a:pPr algn="l"/>
            <a:r>
              <a:rPr lang="en-IN" dirty="0">
                <a:solidFill>
                  <a:schemeClr val="bg1">
                    <a:lumMod val="65000"/>
                  </a:schemeClr>
                </a:solidFill>
                <a:latin typeface="Times New Roman" panose="02020603050405020304" pitchFamily="18" charset="0"/>
                <a:cs typeface="Times New Roman" panose="02020603050405020304" pitchFamily="18" charset="0"/>
              </a:rPr>
              <a:t>Q &amp; A</a:t>
            </a:r>
          </a:p>
        </p:txBody>
      </p:sp>
      <p:sp>
        <p:nvSpPr>
          <p:cNvPr id="4" name="TextBox 3"/>
          <p:cNvSpPr txBox="1"/>
          <p:nvPr/>
        </p:nvSpPr>
        <p:spPr>
          <a:xfrm>
            <a:off x="1828800" y="3840480"/>
            <a:ext cx="4754880" cy="1828800"/>
          </a:xfrm>
          <a:prstGeom prst="rect">
            <a:avLst/>
          </a:prstGeom>
          <a:noFill/>
        </p:spPr>
        <p:txBody>
          <a:bodyPr wrap="square">
            <a:spAutoFit/>
          </a:bodyPr>
          <a:lstStyle/>
          <a:p>
            <a:pPr algn="ctr">
              <a:defRPr sz="1600" b="1">
                <a:solidFill>
                  <a:srgbClr val="003366"/>
                </a:solidFill>
                <a:latin typeface="Calibri"/>
              </a:defRPr>
            </a:pPr>
            <a:r>
              <a:t>Mishael Julian (Reg No: 2462184)</a:t>
            </a:r>
          </a:p>
          <a:p>
            <a:pPr algn="ctr">
              <a:defRPr sz="1400" b="0">
                <a:solidFill>
                  <a:srgbClr val="3C3C3C"/>
                </a:solidFill>
                <a:latin typeface="Calibri"/>
              </a:defRPr>
            </a:pPr>
            <a:r>
              <a:t>Faculty Guide: Dr. Sujatha A K</a:t>
            </a:r>
          </a:p>
          <a:p>
            <a:pPr algn="ctr">
              <a:defRPr sz="1200" b="0">
                <a:solidFill>
                  <a:srgbClr val="505050"/>
                </a:solidFill>
                <a:latin typeface="Calibri"/>
              </a:defRPr>
            </a:pPr>
            <a:r>
              <a:t>Dept. of AI &amp; Data Science Engineering | CHRIST (Deemed to be University)</a:t>
            </a:r>
          </a:p>
        </p:txBody>
      </p:sp>
    </p:spTree>
    <p:extLst>
      <p:ext uri="{BB962C8B-B14F-4D97-AF65-F5344CB8AC3E}">
        <p14:creationId xmlns:p14="http://schemas.microsoft.com/office/powerpoint/2010/main" val="424911883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TotalTime>
  <Words>4273</Words>
  <Application>Microsoft Office PowerPoint</Application>
  <PresentationFormat>On-screen Show (4:3)</PresentationFormat>
  <Paragraphs>258</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Archivo Narrow</vt:lpstr>
      <vt:lpstr>Calibri</vt:lpstr>
      <vt:lpstr>Times New Roman</vt:lpstr>
      <vt:lpstr>Georgia</vt:lpstr>
      <vt:lpstr>Simple Light</vt:lpstr>
      <vt:lpstr>Summer Internship 2026-2027 Machine Learning &amp; Edge Computing enabled Energy Management System for optimization of Hybrid Electric Powertrain: Proof-of-Concept and Predictive EMS</vt:lpstr>
      <vt:lpstr>Contents</vt:lpstr>
      <vt:lpstr>Introduction</vt:lpstr>
      <vt:lpstr>Literature Survey</vt:lpstr>
      <vt:lpstr>Literature Survey</vt:lpstr>
      <vt:lpstr>Literature Survey</vt:lpstr>
      <vt:lpstr>Literature Survey</vt:lpstr>
      <vt:lpstr>Literature Survey</vt:lpstr>
      <vt:lpstr>Objectives </vt:lpstr>
      <vt:lpstr>Graphical Abstract </vt:lpstr>
      <vt:lpstr>Proposed Methodology</vt:lpstr>
      <vt:lpstr>Results and Discussions</vt:lpstr>
      <vt:lpstr>Results and Discussions</vt:lpstr>
      <vt:lpstr>Results and Discussions</vt:lpstr>
      <vt:lpstr>Conclusions</vt:lpstr>
      <vt:lpstr>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Based Generator Protection System</dc:title>
  <dc:creator>Dr. Venkataswamy R</dc:creator>
  <cp:lastModifiedBy>Mishael Julian</cp:lastModifiedBy>
  <cp:revision>97</cp:revision>
  <dcterms:modified xsi:type="dcterms:W3CDTF">2026-09-04T06:39:25Z</dcterms:modified>
</cp:coreProperties>
</file>