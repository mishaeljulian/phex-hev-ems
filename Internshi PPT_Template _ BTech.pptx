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333" r:id="rId4"/>
    <p:sldId id="280" r:id="rId5"/>
    <p:sldId id="270" r:id="rId6"/>
    <p:sldId id="364" r:id="rId7"/>
    <p:sldId id="365" r:id="rId8"/>
    <p:sldId id="362" r:id="rId9"/>
    <p:sldId id="287" r:id="rId10"/>
    <p:sldId id="366" r:id="rId11"/>
    <p:sldId id="334" r:id="rId12"/>
    <p:sldId id="330" r:id="rId13"/>
    <p:sldId id="370" r:id="rId14"/>
    <p:sldId id="371" r:id="rId15"/>
    <p:sldId id="353" r:id="rId16"/>
    <p:sldId id="367" r:id="rId17"/>
    <p:sldId id="360" r:id="rId18"/>
    <p:sldId id="260" r:id="rId19"/>
  </p:sldIdLst>
  <p:sldSz cx="9144000" cy="6858000" type="screen4x3"/>
  <p:notesSz cx="6858000" cy="9144000"/>
  <p:embeddedFontLst>
    <p:embeddedFont>
      <p:font typeface="Archivo Narrow" panose="020B0604020202020204" charset="0"/>
      <p:regular r:id="rId21"/>
      <p:bold r:id="rId22"/>
      <p:italic r:id="rId23"/>
      <p:boldItalic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DB2426-F40D-40E0-80EA-2821076419BB}" v="35" dt="2026-09-04T06:56:07.284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0" autoAdjust="0"/>
    <p:restoredTop sz="93732" autoAdjust="0"/>
  </p:normalViewPr>
  <p:slideViewPr>
    <p:cSldViewPr snapToGrid="0">
      <p:cViewPr varScale="1">
        <p:scale>
          <a:sx n="83" d="100"/>
          <a:sy n="83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ael Julian" userId="9deeb756e411964c" providerId="LiveId" clId="{B9A5FECB-1042-4CBE-B163-58C565DFD1D6}"/>
    <pc:docChg chg="undo custSel modSld">
      <pc:chgData name="Mishael Julian" userId="9deeb756e411964c" providerId="LiveId" clId="{B9A5FECB-1042-4CBE-B163-58C565DFD1D6}" dt="2026-09-04T06:56:49.499" v="400" actId="14100"/>
      <pc:docMkLst>
        <pc:docMk/>
      </pc:docMkLst>
      <pc:sldChg chg="modSp mod">
        <pc:chgData name="Mishael Julian" userId="9deeb756e411964c" providerId="LiveId" clId="{B9A5FECB-1042-4CBE-B163-58C565DFD1D6}" dt="2026-09-04T06:56:49.499" v="400" actId="14100"/>
        <pc:sldMkLst>
          <pc:docMk/>
          <pc:sldMk cId="0" sldId="256"/>
        </pc:sldMkLst>
        <pc:spChg chg="mod">
          <ac:chgData name="Mishael Julian" userId="9deeb756e411964c" providerId="LiveId" clId="{B9A5FECB-1042-4CBE-B163-58C565DFD1D6}" dt="2026-09-03T19:36:19.625" v="231" actId="20577"/>
          <ac:spMkLst>
            <pc:docMk/>
            <pc:sldMk cId="0" sldId="256"/>
            <ac:spMk id="4" creationId="{B50A6F88-496C-4ECC-89B3-CE09921B9401}"/>
          </ac:spMkLst>
        </pc:spChg>
        <pc:spChg chg="mod">
          <ac:chgData name="Mishael Julian" userId="9deeb756e411964c" providerId="LiveId" clId="{B9A5FECB-1042-4CBE-B163-58C565DFD1D6}" dt="2026-09-04T06:56:49.499" v="400" actId="14100"/>
          <ac:spMkLst>
            <pc:docMk/>
            <pc:sldMk cId="0" sldId="256"/>
            <ac:spMk id="111" creationId="{00000000-0000-0000-0000-000000000000}"/>
          </ac:spMkLst>
        </pc:spChg>
        <pc:spChg chg="mod">
          <ac:chgData name="Mishael Julian" userId="9deeb756e411964c" providerId="LiveId" clId="{B9A5FECB-1042-4CBE-B163-58C565DFD1D6}" dt="2026-09-03T19:36:49.790" v="234" actId="255"/>
          <ac:spMkLst>
            <pc:docMk/>
            <pc:sldMk cId="0" sldId="256"/>
            <ac:spMk id="112" creationId="{00000000-0000-0000-0000-000000000000}"/>
          </ac:spMkLst>
        </pc:spChg>
      </pc:sldChg>
      <pc:sldChg chg="modSp mod">
        <pc:chgData name="Mishael Julian" userId="9deeb756e411964c" providerId="LiveId" clId="{B9A5FECB-1042-4CBE-B163-58C565DFD1D6}" dt="2026-09-04T06:49:46.465" v="350" actId="255"/>
        <pc:sldMkLst>
          <pc:docMk/>
          <pc:sldMk cId="700331796" sldId="270"/>
        </pc:sldMkLst>
        <pc:graphicFrameChg chg="mod modGraphic">
          <ac:chgData name="Mishael Julian" userId="9deeb756e411964c" providerId="LiveId" clId="{B9A5FECB-1042-4CBE-B163-58C565DFD1D6}" dt="2026-09-04T06:49:46.465" v="350" actId="255"/>
          <ac:graphicFrameMkLst>
            <pc:docMk/>
            <pc:sldMk cId="700331796" sldId="270"/>
            <ac:graphicFrameMk id="6" creationId="{2F3BD9A5-5F54-4EAE-AD94-879AA0F803BC}"/>
          </ac:graphicFrameMkLst>
        </pc:graphicFrameChg>
      </pc:sldChg>
      <pc:sldChg chg="modSp mod">
        <pc:chgData name="Mishael Julian" userId="9deeb756e411964c" providerId="LiveId" clId="{B9A5FECB-1042-4CBE-B163-58C565DFD1D6}" dt="2026-09-04T06:40:48.958" v="336" actId="255"/>
        <pc:sldMkLst>
          <pc:docMk/>
          <pc:sldMk cId="2437637740" sldId="280"/>
        </pc:sldMkLst>
        <pc:spChg chg="mod">
          <ac:chgData name="Mishael Julian" userId="9deeb756e411964c" providerId="LiveId" clId="{B9A5FECB-1042-4CBE-B163-58C565DFD1D6}" dt="2026-09-04T06:40:48.958" v="336" actId="255"/>
          <ac:spMkLst>
            <pc:docMk/>
            <pc:sldMk cId="2437637740" sldId="280"/>
            <ac:spMk id="124" creationId="{00000000-0000-0000-0000-000000000000}"/>
          </ac:spMkLst>
        </pc:spChg>
      </pc:sldChg>
      <pc:sldChg chg="addSp delSp modSp mod">
        <pc:chgData name="Mishael Julian" userId="9deeb756e411964c" providerId="LiveId" clId="{B9A5FECB-1042-4CBE-B163-58C565DFD1D6}" dt="2026-09-04T06:56:26.797" v="396"/>
        <pc:sldMkLst>
          <pc:docMk/>
          <pc:sldMk cId="0" sldId="287"/>
        </pc:sldMkLst>
        <pc:spChg chg="mod">
          <ac:chgData name="Mishael Julian" userId="9deeb756e411964c" providerId="LiveId" clId="{B9A5FECB-1042-4CBE-B163-58C565DFD1D6}" dt="2026-09-04T06:56:22.607" v="394" actId="255"/>
          <ac:spMkLst>
            <pc:docMk/>
            <pc:sldMk cId="0" sldId="287"/>
            <ac:spMk id="3" creationId="{00000000-0000-0000-0000-000000000000}"/>
          </ac:spMkLst>
        </pc:spChg>
        <pc:spChg chg="add del mod">
          <ac:chgData name="Mishael Julian" userId="9deeb756e411964c" providerId="LiveId" clId="{B9A5FECB-1042-4CBE-B163-58C565DFD1D6}" dt="2026-09-04T06:56:26.797" v="396"/>
          <ac:spMkLst>
            <pc:docMk/>
            <pc:sldMk cId="0" sldId="287"/>
            <ac:spMk id="4" creationId="{0448E89B-7873-DD09-4AA3-5B0A75D05550}"/>
          </ac:spMkLst>
        </pc:spChg>
      </pc:sldChg>
      <pc:sldChg chg="addSp modSp mod">
        <pc:chgData name="Mishael Julian" userId="9deeb756e411964c" providerId="LiveId" clId="{B9A5FECB-1042-4CBE-B163-58C565DFD1D6}" dt="2026-09-04T06:33:43.799" v="288" actId="2711"/>
        <pc:sldMkLst>
          <pc:docMk/>
          <pc:sldMk cId="1628147693" sldId="330"/>
        </pc:sldMkLst>
        <pc:spChg chg="add mod">
          <ac:chgData name="Mishael Julian" userId="9deeb756e411964c" providerId="LiveId" clId="{B9A5FECB-1042-4CBE-B163-58C565DFD1D6}" dt="2026-09-04T06:33:43.799" v="288" actId="2711"/>
          <ac:spMkLst>
            <pc:docMk/>
            <pc:sldMk cId="1628147693" sldId="330"/>
            <ac:spMk id="4" creationId="{0F69D511-6C82-0519-E0A9-F496FF0DF8B6}"/>
          </ac:spMkLst>
        </pc:spChg>
        <pc:picChg chg="add mod">
          <ac:chgData name="Mishael Julian" userId="9deeb756e411964c" providerId="LiveId" clId="{B9A5FECB-1042-4CBE-B163-58C565DFD1D6}" dt="2026-09-04T06:33:33.706" v="287" actId="14100"/>
          <ac:picMkLst>
            <pc:docMk/>
            <pc:sldMk cId="1628147693" sldId="330"/>
            <ac:picMk id="6" creationId="{F056959D-3555-3ADA-A99C-13C56A9BBCF3}"/>
          </ac:picMkLst>
        </pc:picChg>
      </pc:sldChg>
      <pc:sldChg chg="modSp mod">
        <pc:chgData name="Mishael Julian" userId="9deeb756e411964c" providerId="LiveId" clId="{B9A5FECB-1042-4CBE-B163-58C565DFD1D6}" dt="2026-09-03T19:38:25.257" v="263" actId="255"/>
        <pc:sldMkLst>
          <pc:docMk/>
          <pc:sldMk cId="1745977168" sldId="333"/>
        </pc:sldMkLst>
        <pc:spChg chg="mod">
          <ac:chgData name="Mishael Julian" userId="9deeb756e411964c" providerId="LiveId" clId="{B9A5FECB-1042-4CBE-B163-58C565DFD1D6}" dt="2026-09-03T19:38:25.257" v="263" actId="255"/>
          <ac:spMkLst>
            <pc:docMk/>
            <pc:sldMk cId="1745977168" sldId="333"/>
            <ac:spMk id="3" creationId="{00000000-0000-0000-0000-000000000000}"/>
          </ac:spMkLst>
        </pc:spChg>
      </pc:sldChg>
      <pc:sldChg chg="addSp modSp mod">
        <pc:chgData name="Mishael Julian" userId="9deeb756e411964c" providerId="LiveId" clId="{B9A5FECB-1042-4CBE-B163-58C565DFD1D6}" dt="2026-09-04T06:33:03.039" v="282" actId="2711"/>
        <pc:sldMkLst>
          <pc:docMk/>
          <pc:sldMk cId="1980110965" sldId="334"/>
        </pc:sldMkLst>
        <pc:spChg chg="add mod">
          <ac:chgData name="Mishael Julian" userId="9deeb756e411964c" providerId="LiveId" clId="{B9A5FECB-1042-4CBE-B163-58C565DFD1D6}" dt="2026-09-04T06:33:03.039" v="282" actId="2711"/>
          <ac:spMkLst>
            <pc:docMk/>
            <pc:sldMk cId="1980110965" sldId="334"/>
            <ac:spMk id="4" creationId="{DC5688BE-0AEB-D39D-9247-941A3D53F50D}"/>
          </ac:spMkLst>
        </pc:spChg>
        <pc:picChg chg="add mod">
          <ac:chgData name="Mishael Julian" userId="9deeb756e411964c" providerId="LiveId" clId="{B9A5FECB-1042-4CBE-B163-58C565DFD1D6}" dt="2026-09-04T06:32:54.260" v="281" actId="14100"/>
          <ac:picMkLst>
            <pc:docMk/>
            <pc:sldMk cId="1980110965" sldId="334"/>
            <ac:picMk id="6" creationId="{6D038041-66C0-2A0F-C32D-6489337FCF43}"/>
          </ac:picMkLst>
        </pc:picChg>
      </pc:sldChg>
      <pc:sldChg chg="addSp delSp modSp mod">
        <pc:chgData name="Mishael Julian" userId="9deeb756e411964c" providerId="LiveId" clId="{B9A5FECB-1042-4CBE-B163-58C565DFD1D6}" dt="2026-09-04T06:37:09.639" v="313" actId="14100"/>
        <pc:sldMkLst>
          <pc:docMk/>
          <pc:sldMk cId="3395215820" sldId="353"/>
        </pc:sldMkLst>
        <pc:spChg chg="mod">
          <ac:chgData name="Mishael Julian" userId="9deeb756e411964c" providerId="LiveId" clId="{B9A5FECB-1042-4CBE-B163-58C565DFD1D6}" dt="2026-09-04T06:37:09.639" v="313" actId="14100"/>
          <ac:spMkLst>
            <pc:docMk/>
            <pc:sldMk cId="3395215820" sldId="353"/>
            <ac:spMk id="3" creationId="{00000000-0000-0000-0000-000000000000}"/>
          </ac:spMkLst>
        </pc:spChg>
        <pc:spChg chg="add del mod">
          <ac:chgData name="Mishael Julian" userId="9deeb756e411964c" providerId="LiveId" clId="{B9A5FECB-1042-4CBE-B163-58C565DFD1D6}" dt="2026-09-04T06:36:46.017" v="310"/>
          <ac:spMkLst>
            <pc:docMk/>
            <pc:sldMk cId="3395215820" sldId="353"/>
            <ac:spMk id="4" creationId="{CDEA0B75-8E1F-549D-A785-CB4859A72AB4}"/>
          </ac:spMkLst>
        </pc:spChg>
      </pc:sldChg>
      <pc:sldChg chg="modSp mod">
        <pc:chgData name="Mishael Julian" userId="9deeb756e411964c" providerId="LiveId" clId="{B9A5FECB-1042-4CBE-B163-58C565DFD1D6}" dt="2026-09-04T06:38:55.449" v="332" actId="255"/>
        <pc:sldMkLst>
          <pc:docMk/>
          <pc:sldMk cId="1420049733" sldId="360"/>
        </pc:sldMkLst>
        <pc:spChg chg="mod">
          <ac:chgData name="Mishael Julian" userId="9deeb756e411964c" providerId="LiveId" clId="{B9A5FECB-1042-4CBE-B163-58C565DFD1D6}" dt="2026-09-04T06:38:55.449" v="332" actId="255"/>
          <ac:spMkLst>
            <pc:docMk/>
            <pc:sldMk cId="1420049733" sldId="360"/>
            <ac:spMk id="3" creationId="{61D0D167-1B43-F972-4DE2-87246B71C144}"/>
          </ac:spMkLst>
        </pc:spChg>
      </pc:sldChg>
      <pc:sldChg chg="modSp mod">
        <pc:chgData name="Mishael Julian" userId="9deeb756e411964c" providerId="LiveId" clId="{B9A5FECB-1042-4CBE-B163-58C565DFD1D6}" dt="2026-09-04T06:55:48.711" v="389" actId="255"/>
        <pc:sldMkLst>
          <pc:docMk/>
          <pc:sldMk cId="3741676264" sldId="362"/>
        </pc:sldMkLst>
        <pc:graphicFrameChg chg="mod modGraphic">
          <ac:chgData name="Mishael Julian" userId="9deeb756e411964c" providerId="LiveId" clId="{B9A5FECB-1042-4CBE-B163-58C565DFD1D6}" dt="2026-09-04T06:55:48.711" v="389" actId="255"/>
          <ac:graphicFrameMkLst>
            <pc:docMk/>
            <pc:sldMk cId="3741676264" sldId="362"/>
            <ac:graphicFrameMk id="6" creationId="{2F3BD9A5-5F54-4EAE-AD94-879AA0F803BC}"/>
          </ac:graphicFrameMkLst>
        </pc:graphicFrameChg>
      </pc:sldChg>
      <pc:sldChg chg="modSp mod">
        <pc:chgData name="Mishael Julian" userId="9deeb756e411964c" providerId="LiveId" clId="{B9A5FECB-1042-4CBE-B163-58C565DFD1D6}" dt="2026-09-04T06:52:07.445" v="362" actId="255"/>
        <pc:sldMkLst>
          <pc:docMk/>
          <pc:sldMk cId="2201953641" sldId="364"/>
        </pc:sldMkLst>
        <pc:graphicFrameChg chg="mod modGraphic">
          <ac:chgData name="Mishael Julian" userId="9deeb756e411964c" providerId="LiveId" clId="{B9A5FECB-1042-4CBE-B163-58C565DFD1D6}" dt="2026-09-04T06:52:07.445" v="362" actId="255"/>
          <ac:graphicFrameMkLst>
            <pc:docMk/>
            <pc:sldMk cId="2201953641" sldId="364"/>
            <ac:graphicFrameMk id="6" creationId="{2F3BD9A5-5F54-4EAE-AD94-879AA0F803BC}"/>
          </ac:graphicFrameMkLst>
        </pc:graphicFrameChg>
      </pc:sldChg>
      <pc:sldChg chg="modSp mod">
        <pc:chgData name="Mishael Julian" userId="9deeb756e411964c" providerId="LiveId" clId="{B9A5FECB-1042-4CBE-B163-58C565DFD1D6}" dt="2026-09-04T06:54:09.998" v="375" actId="255"/>
        <pc:sldMkLst>
          <pc:docMk/>
          <pc:sldMk cId="4201171905" sldId="365"/>
        </pc:sldMkLst>
        <pc:graphicFrameChg chg="mod modGraphic">
          <ac:chgData name="Mishael Julian" userId="9deeb756e411964c" providerId="LiveId" clId="{B9A5FECB-1042-4CBE-B163-58C565DFD1D6}" dt="2026-09-04T06:54:09.998" v="375" actId="255"/>
          <ac:graphicFrameMkLst>
            <pc:docMk/>
            <pc:sldMk cId="4201171905" sldId="365"/>
            <ac:graphicFrameMk id="6" creationId="{2F3BD9A5-5F54-4EAE-AD94-879AA0F803BC}"/>
          </ac:graphicFrameMkLst>
        </pc:graphicFrameChg>
      </pc:sldChg>
      <pc:sldChg chg="addSp delSp modSp mod">
        <pc:chgData name="Mishael Julian" userId="9deeb756e411964c" providerId="LiveId" clId="{B9A5FECB-1042-4CBE-B163-58C565DFD1D6}" dt="2026-09-04T06:32:12.132" v="275" actId="255"/>
        <pc:sldMkLst>
          <pc:docMk/>
          <pc:sldMk cId="4058935463" sldId="366"/>
        </pc:sldMkLst>
        <pc:spChg chg="add mod">
          <ac:chgData name="Mishael Julian" userId="9deeb756e411964c" providerId="LiveId" clId="{B9A5FECB-1042-4CBE-B163-58C565DFD1D6}" dt="2026-09-04T06:32:12.132" v="275" actId="255"/>
          <ac:spMkLst>
            <pc:docMk/>
            <pc:sldMk cId="4058935463" sldId="366"/>
            <ac:spMk id="7" creationId="{0AE99D74-E66F-4AD2-D1A0-D861FC3BDABF}"/>
          </ac:spMkLst>
        </pc:spChg>
        <pc:picChg chg="del">
          <ac:chgData name="Mishael Julian" userId="9deeb756e411964c" providerId="LiveId" clId="{B9A5FECB-1042-4CBE-B163-58C565DFD1D6}" dt="2026-09-04T06:30:54.198" v="264" actId="478"/>
          <ac:picMkLst>
            <pc:docMk/>
            <pc:sldMk cId="4058935463" sldId="366"/>
            <ac:picMk id="4" creationId="{E96B8A77-1F27-4071-1E7E-1EF14D6622F0}"/>
          </ac:picMkLst>
        </pc:picChg>
        <pc:picChg chg="add mod">
          <ac:chgData name="Mishael Julian" userId="9deeb756e411964c" providerId="LiveId" clId="{B9A5FECB-1042-4CBE-B163-58C565DFD1D6}" dt="2026-09-04T06:31:05.258" v="268" actId="14100"/>
          <ac:picMkLst>
            <pc:docMk/>
            <pc:sldMk cId="4058935463" sldId="366"/>
            <ac:picMk id="5" creationId="{97076672-6A8B-56BD-DAD8-881C135376D5}"/>
          </ac:picMkLst>
        </pc:picChg>
      </pc:sldChg>
      <pc:sldChg chg="modSp mod">
        <pc:chgData name="Mishael Julian" userId="9deeb756e411964c" providerId="LiveId" clId="{B9A5FECB-1042-4CBE-B163-58C565DFD1D6}" dt="2026-09-04T06:37:41.524" v="317" actId="2711"/>
        <pc:sldMkLst>
          <pc:docMk/>
          <pc:sldMk cId="3741029303" sldId="367"/>
        </pc:sldMkLst>
        <pc:spChg chg="mod">
          <ac:chgData name="Mishael Julian" userId="9deeb756e411964c" providerId="LiveId" clId="{B9A5FECB-1042-4CBE-B163-58C565DFD1D6}" dt="2026-09-04T06:37:41.524" v="317" actId="2711"/>
          <ac:spMkLst>
            <pc:docMk/>
            <pc:sldMk cId="3741029303" sldId="367"/>
            <ac:spMk id="3" creationId="{00000000-0000-0000-0000-000000000000}"/>
          </ac:spMkLst>
        </pc:spChg>
      </pc:sldChg>
      <pc:sldChg chg="addSp modSp mod">
        <pc:chgData name="Mishael Julian" userId="9deeb756e411964c" providerId="LiveId" clId="{B9A5FECB-1042-4CBE-B163-58C565DFD1D6}" dt="2026-09-04T06:34:30.135" v="294" actId="2711"/>
        <pc:sldMkLst>
          <pc:docMk/>
          <pc:sldMk cId="980810962" sldId="370"/>
        </pc:sldMkLst>
        <pc:spChg chg="add mod">
          <ac:chgData name="Mishael Julian" userId="9deeb756e411964c" providerId="LiveId" clId="{B9A5FECB-1042-4CBE-B163-58C565DFD1D6}" dt="2026-09-04T06:34:30.135" v="294" actId="2711"/>
          <ac:spMkLst>
            <pc:docMk/>
            <pc:sldMk cId="980810962" sldId="370"/>
            <ac:spMk id="4" creationId="{920060A8-76FA-5156-9D52-5F975874D21B}"/>
          </ac:spMkLst>
        </pc:spChg>
        <pc:picChg chg="add mod">
          <ac:chgData name="Mishael Julian" userId="9deeb756e411964c" providerId="LiveId" clId="{B9A5FECB-1042-4CBE-B163-58C565DFD1D6}" dt="2026-09-04T06:34:22.337" v="293" actId="14100"/>
          <ac:picMkLst>
            <pc:docMk/>
            <pc:sldMk cId="980810962" sldId="370"/>
            <ac:picMk id="6" creationId="{25E19559-6F1C-C7F6-6C00-7AECE07DE19A}"/>
          </ac:picMkLst>
        </pc:picChg>
      </pc:sldChg>
      <pc:sldChg chg="addSp delSp modSp mod">
        <pc:chgData name="Mishael Julian" userId="9deeb756e411964c" providerId="LiveId" clId="{B9A5FECB-1042-4CBE-B163-58C565DFD1D6}" dt="2026-09-04T06:35:52.930" v="304" actId="2711"/>
        <pc:sldMkLst>
          <pc:docMk/>
          <pc:sldMk cId="2024651295" sldId="371"/>
        </pc:sldMkLst>
        <pc:spChg chg="add mod">
          <ac:chgData name="Mishael Julian" userId="9deeb756e411964c" providerId="LiveId" clId="{B9A5FECB-1042-4CBE-B163-58C565DFD1D6}" dt="2026-09-04T06:35:52.930" v="304" actId="2711"/>
          <ac:spMkLst>
            <pc:docMk/>
            <pc:sldMk cId="2024651295" sldId="371"/>
            <ac:spMk id="10" creationId="{7531F881-E24E-FF0A-A284-87DA2ACD81DB}"/>
          </ac:spMkLst>
        </pc:spChg>
        <pc:graphicFrameChg chg="add">
          <ac:chgData name="Mishael Julian" userId="9deeb756e411964c" providerId="LiveId" clId="{B9A5FECB-1042-4CBE-B163-58C565DFD1D6}" dt="2026-09-04T06:35:23.892" v="299" actId="22"/>
          <ac:graphicFrameMkLst>
            <pc:docMk/>
            <pc:sldMk cId="2024651295" sldId="371"/>
            <ac:graphicFrameMk id="8" creationId="{7955B67E-DC48-476C-C4B3-3B975155A315}"/>
          </ac:graphicFrameMkLst>
        </pc:graphicFrameChg>
        <pc:picChg chg="add del">
          <ac:chgData name="Mishael Julian" userId="9deeb756e411964c" providerId="LiveId" clId="{B9A5FECB-1042-4CBE-B163-58C565DFD1D6}" dt="2026-09-04T06:34:49.352" v="296" actId="22"/>
          <ac:picMkLst>
            <pc:docMk/>
            <pc:sldMk cId="2024651295" sldId="371"/>
            <ac:picMk id="4" creationId="{69B748A6-BB32-1CA8-28D0-1B87A1A578B5}"/>
          </ac:picMkLst>
        </pc:picChg>
        <pc:picChg chg="add del">
          <ac:chgData name="Mishael Julian" userId="9deeb756e411964c" providerId="LiveId" clId="{B9A5FECB-1042-4CBE-B163-58C565DFD1D6}" dt="2026-09-04T06:34:55.946" v="298" actId="478"/>
          <ac:picMkLst>
            <pc:docMk/>
            <pc:sldMk cId="2024651295" sldId="371"/>
            <ac:picMk id="6" creationId="{33377648-78D9-B48F-C859-6CF44E487B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7826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370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608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5458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5368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3" name="Shape 13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14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Shape 15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Shape 16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 VALUES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" name="Shape 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43450" y="232167"/>
            <a:ext cx="2764676" cy="100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23" name="Shape 23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" name="Shape 25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Shape 26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32" name="Shape 3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Shape 3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3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42" name="Shape 4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Shape 4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4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0" name="Shape 5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Shape 5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Shape 5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Shape 5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Shape 5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59" name="Shape 5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Shape 6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67" name="Shape 6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Shape 6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78" name="Shape 7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Shape 8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86" name="Shape 8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Shape 8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95" name="Shape 9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Shape 9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Shape 10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Shape 10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med" len="med"/>
            <a:tailEnd type="none" w="med" len="med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chivo Narrow"/>
              <a:buChar char="●"/>
              <a:defRPr sz="2200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lvl="1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lvl="2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lvl="3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lvl="4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lvl="5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lvl="6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lvl="7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lvl="8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ctrTitle"/>
          </p:nvPr>
        </p:nvSpPr>
        <p:spPr>
          <a:xfrm>
            <a:off x="221672" y="129310"/>
            <a:ext cx="8610628" cy="27986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 Internship 2026-2027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&amp; Edge Computing enabled EMS for optimization of Hybrid Electric Powertrain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Shape 112"/>
          <p:cNvSpPr txBox="1">
            <a:spLocks noGrp="1"/>
          </p:cNvSpPr>
          <p:nvPr>
            <p:ph type="subTitle" idx="1"/>
          </p:nvPr>
        </p:nvSpPr>
        <p:spPr>
          <a:xfrm>
            <a:off x="544944" y="3102747"/>
            <a:ext cx="8287355" cy="961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Mishael Julian 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(Reg No: 2462184)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Duration: 30 days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12">
            <a:extLst>
              <a:ext uri="{FF2B5EF4-FFF2-40B4-BE49-F238E27FC236}">
                <a16:creationId xmlns:a16="http://schemas.microsoft.com/office/drawing/2014/main" id="{B50A6F88-496C-4ECC-89B3-CE09921B9401}"/>
              </a:ext>
            </a:extLst>
          </p:cNvPr>
          <p:cNvSpPr txBox="1">
            <a:spLocks/>
          </p:cNvSpPr>
          <p:nvPr/>
        </p:nvSpPr>
        <p:spPr>
          <a:xfrm>
            <a:off x="311700" y="4451230"/>
            <a:ext cx="8520600" cy="1157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0" indent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pPr marL="0" indent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Sujatha AK</a:t>
            </a:r>
          </a:p>
          <a:p>
            <a:pPr marL="0" indent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Dept of ADSE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5BFA1-87C2-4ADD-B50B-F91F82773AAE}"/>
              </a:ext>
            </a:extLst>
          </p:cNvPr>
          <p:cNvSpPr txBox="1"/>
          <p:nvPr/>
        </p:nvSpPr>
        <p:spPr>
          <a:xfrm>
            <a:off x="5860999" y="5339744"/>
            <a:ext cx="3107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1023255" y="945933"/>
            <a:ext cx="7743729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1175656" y="1709433"/>
            <a:ext cx="6030685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indent="-457200">
              <a:spcAft>
                <a:spcPts val="6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indent="-457200">
              <a:spcAft>
                <a:spcPts val="6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Abstract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Work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  <a:p>
            <a:pPr lvl="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28" y="593367"/>
            <a:ext cx="8015871" cy="7635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428" y="1356867"/>
            <a:ext cx="8015872" cy="490776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HEV Powertrain Dynamics: </a:t>
            </a:r>
            <a:r>
              <a:rPr lang="en-IN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Electric Vehicles combine Internal Combustion Engines (ICE), Electric Motors (EM), and high-voltage battery packs to minimize emissions and maximize fuel efficiency.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Supervisory EMS Challenge: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Energy Management System (EMS) determines the real-time torque and power split. Conventional rule-based EMS controllers operate purely reactively based on instantaneous telemetry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Predictive Control: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Reactive controllers cannot anticipate upcoming route topography, traffic congestion, or rapid driver acceleration, leading to suboptimal battery depletion and engine low-efficiency operation.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Archivo Narrow" panose="020B0604020202020204" charset="0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97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805542" y="593367"/>
            <a:ext cx="8026757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Literature Survey</a:t>
            </a:r>
            <a:endParaRPr dirty="0"/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805542" y="1536633"/>
            <a:ext cx="8026758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1: HEV Supervisory Control &amp; Optimization: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of global optimization (Dynamic Programming, </a:t>
            </a:r>
            <a:r>
              <a:rPr lang="en-US" sz="160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Pontryagin's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Minimum Principle) versus real-time instantaneous strategies (ECMS and Rule-Based Controllers).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2: Machine Learning for Time-Series Vehicle Forecasting: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 of regression techniques (Random Forest, Gradient Boosting, </a:t>
            </a:r>
            <a:r>
              <a:rPr lang="en-US" sz="160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rolling-window lag features for predicting short-term speed, acceleration, and power demand.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3: Context-Aware Telemetry &amp; Route Optimization: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traffic-density modeling, route segmentation (Urban, Suburb, Highway), and look-ahead State-of-Charge (SOC) planning across standard drive cycles (WLTP, NEDC).</a:t>
            </a:r>
          </a:p>
          <a:p>
            <a:pPr marL="342900" indent="-342900">
              <a:spcAft>
                <a:spcPts val="600"/>
              </a:spcAft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7637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3BD9A5-5F54-4EAE-AD94-879AA0F80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256732"/>
              </p:ext>
            </p:extLst>
          </p:nvPr>
        </p:nvGraphicFramePr>
        <p:xfrm>
          <a:off x="466565" y="1199666"/>
          <a:ext cx="8210870" cy="4828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016">
                  <a:extLst>
                    <a:ext uri="{9D8B030D-6E8A-4147-A177-3AD203B41FA5}">
                      <a16:colId xmlns:a16="http://schemas.microsoft.com/office/drawing/2014/main" val="40357115"/>
                    </a:ext>
                  </a:extLst>
                </a:gridCol>
                <a:gridCol w="1901248">
                  <a:extLst>
                    <a:ext uri="{9D8B030D-6E8A-4147-A177-3AD203B41FA5}">
                      <a16:colId xmlns:a16="http://schemas.microsoft.com/office/drawing/2014/main" val="3646413237"/>
                    </a:ext>
                  </a:extLst>
                </a:gridCol>
                <a:gridCol w="805542">
                  <a:extLst>
                    <a:ext uri="{9D8B030D-6E8A-4147-A177-3AD203B41FA5}">
                      <a16:colId xmlns:a16="http://schemas.microsoft.com/office/drawing/2014/main" val="1731675184"/>
                    </a:ext>
                  </a:extLst>
                </a:gridCol>
                <a:gridCol w="4998064">
                  <a:extLst>
                    <a:ext uri="{9D8B030D-6E8A-4147-A177-3AD203B41FA5}">
                      <a16:colId xmlns:a16="http://schemas.microsoft.com/office/drawing/2014/main" val="1919390922"/>
                    </a:ext>
                  </a:extLst>
                </a:gridCol>
              </a:tblGrid>
              <a:tr h="52463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19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Sciarretta and L.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Guzzella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of Hybrid Electric Vehicles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730805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Points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control strategies for Hybrid Electric Vehicles.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142157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Gaps/Scope of future work</a:t>
                      </a:r>
                    </a:p>
                    <a:p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EMS approaches primarily depend on available vehicle-state information.</a:t>
                      </a:r>
                      <a:endParaRPr lang="en-US" sz="1600" b="0" i="0" u="none" strike="noStrike" cap="none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851112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Inheritance 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project builds on conventional HEV control concepts by introducing ML-assisted predictive information for EMS decision-making and energy optimization.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272646"/>
                  </a:ext>
                </a:extLst>
              </a:tr>
              <a:tr h="413596">
                <a:tc gridSpan="2"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Publisher/Paper/ View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Control Systems Magazine — Research Paper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507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331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3BD9A5-5F54-4EAE-AD94-879AA0F80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044682"/>
              </p:ext>
            </p:extLst>
          </p:nvPr>
        </p:nvGraphicFramePr>
        <p:xfrm>
          <a:off x="466565" y="1199666"/>
          <a:ext cx="8210870" cy="4395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016">
                  <a:extLst>
                    <a:ext uri="{9D8B030D-6E8A-4147-A177-3AD203B41FA5}">
                      <a16:colId xmlns:a16="http://schemas.microsoft.com/office/drawing/2014/main" val="40357115"/>
                    </a:ext>
                  </a:extLst>
                </a:gridCol>
                <a:gridCol w="1901248">
                  <a:extLst>
                    <a:ext uri="{9D8B030D-6E8A-4147-A177-3AD203B41FA5}">
                      <a16:colId xmlns:a16="http://schemas.microsoft.com/office/drawing/2014/main" val="3646413237"/>
                    </a:ext>
                  </a:extLst>
                </a:gridCol>
                <a:gridCol w="805542">
                  <a:extLst>
                    <a:ext uri="{9D8B030D-6E8A-4147-A177-3AD203B41FA5}">
                      <a16:colId xmlns:a16="http://schemas.microsoft.com/office/drawing/2014/main" val="1731675184"/>
                    </a:ext>
                  </a:extLst>
                </a:gridCol>
                <a:gridCol w="4998064">
                  <a:extLst>
                    <a:ext uri="{9D8B030D-6E8A-4147-A177-3AD203B41FA5}">
                      <a16:colId xmlns:a16="http://schemas.microsoft.com/office/drawing/2014/main" val="1919390922"/>
                    </a:ext>
                  </a:extLst>
                </a:gridCol>
              </a:tblGrid>
              <a:tr h="52463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19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I. Husain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Electric and Hybrid Vehicles: Design Fundamentals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730805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Points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Presents fundamental concepts of electric and hybrid vehicle architecture.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142157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Gaps/Scope of future work</a:t>
                      </a:r>
                    </a:p>
                    <a:p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focuses on vehicle design and engineering fundamentals.</a:t>
                      </a:r>
                      <a:endParaRPr lang="en-US" sz="1600" b="0" i="0" u="none" strike="noStrike" cap="none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851112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Inheritance 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project applies these HEV powertrain fundamentals to develop and evaluate a predictive Energy Management System.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272646"/>
                  </a:ext>
                </a:extLst>
              </a:tr>
              <a:tr h="413596">
                <a:tc gridSpan="2"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Publisher/Paper/ View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 Press — Technical Textbook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507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1953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3BD9A5-5F54-4EAE-AD94-879AA0F80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339488"/>
              </p:ext>
            </p:extLst>
          </p:nvPr>
        </p:nvGraphicFramePr>
        <p:xfrm>
          <a:off x="466565" y="1199666"/>
          <a:ext cx="8210870" cy="4419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016">
                  <a:extLst>
                    <a:ext uri="{9D8B030D-6E8A-4147-A177-3AD203B41FA5}">
                      <a16:colId xmlns:a16="http://schemas.microsoft.com/office/drawing/2014/main" val="40357115"/>
                    </a:ext>
                  </a:extLst>
                </a:gridCol>
                <a:gridCol w="1901248">
                  <a:extLst>
                    <a:ext uri="{9D8B030D-6E8A-4147-A177-3AD203B41FA5}">
                      <a16:colId xmlns:a16="http://schemas.microsoft.com/office/drawing/2014/main" val="3646413237"/>
                    </a:ext>
                  </a:extLst>
                </a:gridCol>
                <a:gridCol w="805542">
                  <a:extLst>
                    <a:ext uri="{9D8B030D-6E8A-4147-A177-3AD203B41FA5}">
                      <a16:colId xmlns:a16="http://schemas.microsoft.com/office/drawing/2014/main" val="1731675184"/>
                    </a:ext>
                  </a:extLst>
                </a:gridCol>
                <a:gridCol w="4998064">
                  <a:extLst>
                    <a:ext uri="{9D8B030D-6E8A-4147-A177-3AD203B41FA5}">
                      <a16:colId xmlns:a16="http://schemas.microsoft.com/office/drawing/2014/main" val="1919390922"/>
                    </a:ext>
                  </a:extLst>
                </a:gridCol>
              </a:tblGrid>
              <a:tr h="52463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19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Breiman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730805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Points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the Random Forest ensemble-learning method.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142157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Gaps/Scope of future work</a:t>
                      </a:r>
                    </a:p>
                    <a:p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Forests do not inherently model long-term temporal behaviour.</a:t>
                      </a:r>
                      <a:endParaRPr lang="en-US" sz="1600" b="0" i="0" u="none" strike="noStrike" cap="none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851112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Inheritance 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project uses ML-based regression and engineered vehicle-history features to predict future speed, acceleration and power demand for predictive EMS support.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272646"/>
                  </a:ext>
                </a:extLst>
              </a:tr>
              <a:tr h="413596">
                <a:tc gridSpan="2">
                  <a:txBody>
                    <a:bodyPr/>
                    <a:lstStyle/>
                    <a:p>
                      <a:r>
                        <a:rPr lang="en-IN" sz="16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Publisher/Paper/ View</a:t>
                      </a:r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— Springer — Research Paper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507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171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3BD9A5-5F54-4EAE-AD94-879AA0F80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89646"/>
              </p:ext>
            </p:extLst>
          </p:nvPr>
        </p:nvGraphicFramePr>
        <p:xfrm>
          <a:off x="466565" y="1199666"/>
          <a:ext cx="8210870" cy="4097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6016">
                  <a:extLst>
                    <a:ext uri="{9D8B030D-6E8A-4147-A177-3AD203B41FA5}">
                      <a16:colId xmlns:a16="http://schemas.microsoft.com/office/drawing/2014/main" val="40357115"/>
                    </a:ext>
                  </a:extLst>
                </a:gridCol>
                <a:gridCol w="1901248">
                  <a:extLst>
                    <a:ext uri="{9D8B030D-6E8A-4147-A177-3AD203B41FA5}">
                      <a16:colId xmlns:a16="http://schemas.microsoft.com/office/drawing/2014/main" val="3646413237"/>
                    </a:ext>
                  </a:extLst>
                </a:gridCol>
                <a:gridCol w="805542">
                  <a:extLst>
                    <a:ext uri="{9D8B030D-6E8A-4147-A177-3AD203B41FA5}">
                      <a16:colId xmlns:a16="http://schemas.microsoft.com/office/drawing/2014/main" val="1731675184"/>
                    </a:ext>
                  </a:extLst>
                </a:gridCol>
                <a:gridCol w="4998064">
                  <a:extLst>
                    <a:ext uri="{9D8B030D-6E8A-4147-A177-3AD203B41FA5}">
                      <a16:colId xmlns:a16="http://schemas.microsoft.com/office/drawing/2014/main" val="1919390922"/>
                    </a:ext>
                  </a:extLst>
                </a:gridCol>
              </a:tblGrid>
              <a:tr h="524630"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 anchorCtr="1">
                    <a:solidFill>
                      <a:srgbClr val="0B53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199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Worldwide Harmonized Light Vehicles Test Procedure (WLTP)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730805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Points</a:t>
                      </a: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Defines standardized testing procedures for light vehicles.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142157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Gaps/Scope of future work</a:t>
                      </a:r>
                    </a:p>
                    <a:p>
                      <a:endParaRPr lang="en-IN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Standardized drive cycles cannot represent every real-world driving condition.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851112"/>
                  </a:ext>
                </a:extLst>
              </a:tr>
              <a:tr h="524630">
                <a:tc gridSpan="2"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Inheritance </a:t>
                      </a: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project uses representative driving cycles such as WLTP to simulate vehicle operation and evaluate predictive EMS behaviour and energy-related KPIs.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272646"/>
                  </a:ext>
                </a:extLst>
              </a:tr>
              <a:tr h="413596">
                <a:tc gridSpan="2">
                  <a:txBody>
                    <a:bodyPr/>
                    <a:lstStyle/>
                    <a:p>
                      <a:r>
                        <a:rPr lang="en-IN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Publisher/Paper/ View</a:t>
                      </a:r>
                    </a:p>
                  </a:txBody>
                  <a:tcPr anchor="ctr"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United Nations Economic Commission for Europe (UNECE) — Technical Standard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507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676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865509"/>
            <a:ext cx="7347858" cy="763500"/>
          </a:xfrm>
        </p:spPr>
        <p:txBody>
          <a:bodyPr/>
          <a:lstStyle/>
          <a:p>
            <a:r>
              <a:rPr lang="en-US" dirty="0"/>
              <a:t>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3770" y="1536633"/>
            <a:ext cx="8048529" cy="4555200"/>
          </a:xfrm>
        </p:spPr>
        <p:txBody>
          <a:bodyPr/>
          <a:lstStyle/>
          <a:p>
            <a:pPr marL="546100" indent="-457200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1: </a:t>
            </a:r>
            <a:r>
              <a:rPr lang="en-IN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 and formulate the supervisory Energy Management System architecture for hybrid electric powertrains.</a:t>
            </a:r>
          </a:p>
          <a:p>
            <a:pPr>
              <a:spcAft>
                <a:spcPts val="800"/>
              </a:spcAft>
            </a:pPr>
            <a:r>
              <a:rPr lang="en-IN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2: </a:t>
            </a:r>
            <a:r>
              <a:rPr lang="en-IN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and implement a robust data preprocessing pipeline for telemetry, IMU sensor signals, driver </a:t>
            </a:r>
            <a:r>
              <a:rPr lang="en-IN" sz="160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NASA battery datasets.</a:t>
            </a:r>
          </a:p>
          <a:p>
            <a:pPr>
              <a:spcAft>
                <a:spcPts val="800"/>
              </a:spcAft>
            </a:pPr>
            <a:r>
              <a:rPr lang="en-IN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3: </a:t>
            </a:r>
            <a:r>
              <a:rPr lang="en-IN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train a Machine Learning-assisted Demand Forecaster using lag-based Random Forest regression to predict speed, acceleration, and power demand.</a:t>
            </a:r>
          </a:p>
          <a:p>
            <a:pPr>
              <a:spcAft>
                <a:spcPts val="800"/>
              </a:spcAft>
            </a:pPr>
            <a:r>
              <a:rPr lang="en-IN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4: </a:t>
            </a:r>
            <a:r>
              <a:rPr lang="en-IN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 Hybrid Decision Engine combining predictive ML guidance, traffic/route preview, and deterministic rule-based safety overrides.</a:t>
            </a:r>
          </a:p>
          <a:p>
            <a:pPr>
              <a:spcAft>
                <a:spcPts val="800"/>
              </a:spcAft>
            </a:pPr>
            <a:r>
              <a:rPr lang="en-IN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5: </a:t>
            </a:r>
            <a:r>
              <a:rPr lang="en-IN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predictive EMS Proof-of-Concept in a modular Python simulation environment across standard drive cycles (WLTP Urban, WLTP Mixed, Bangalore Urban) and benchmark Key Performance Indicators (KPIs).</a:t>
            </a:r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100" y="641507"/>
            <a:ext cx="7373615" cy="7635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Abstract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page_15_img_0_244.png">
            <a:extLst>
              <a:ext uri="{FF2B5EF4-FFF2-40B4-BE49-F238E27FC236}">
                <a16:creationId xmlns:a16="http://schemas.microsoft.com/office/drawing/2014/main" id="{97076672-6A8B-56BD-DAD8-881C13537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5" y="1260764"/>
            <a:ext cx="4366952" cy="50714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E99D74-E66F-4AD2-D1A0-D861FC3BDABF}"/>
              </a:ext>
            </a:extLst>
          </p:cNvPr>
          <p:cNvSpPr txBox="1"/>
          <p:nvPr/>
        </p:nvSpPr>
        <p:spPr>
          <a:xfrm>
            <a:off x="4572000" y="2282277"/>
            <a:ext cx="4276436" cy="3498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N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PHEX '27 Project: </a:t>
            </a:r>
            <a:r>
              <a:rPr lang="en-IN" sz="16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HEV architecture, physical engine/motor models, battery dynamics, CAN-FD communication studies, and baseline rule engine.</a:t>
            </a:r>
          </a:p>
          <a:p>
            <a:pPr>
              <a:spcAft>
                <a:spcPts val="800"/>
              </a:spcAft>
            </a:pPr>
            <a:r>
              <a:rPr lang="en-IN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Specific Contribution: </a:t>
            </a:r>
            <a:r>
              <a:rPr lang="en-IN" sz="16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EMS layer: Feature engineering pipeline, Random Forest Demand Forecaster (Speed, Accel, Power), Hybrid Decision Engine, and Drive-Cycle KPI validation.</a:t>
            </a:r>
          </a:p>
          <a:p>
            <a:pPr>
              <a:spcAft>
                <a:spcPts val="800"/>
              </a:spcAft>
            </a:pPr>
            <a:r>
              <a:rPr lang="en-IN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Multi-Layer Flow: </a:t>
            </a:r>
            <a:r>
              <a:rPr lang="en-IN" sz="16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Telemetry Data Ingestion -&gt; Lag Preprocessing -&gt; Demand Forecaster -&gt; Hybrid Decision Engine -&gt; Safety Layer -&gt; Powertrain Actuation.</a:t>
            </a:r>
          </a:p>
        </p:txBody>
      </p:sp>
    </p:spTree>
    <p:extLst>
      <p:ext uri="{BB962C8B-B14F-4D97-AF65-F5344CB8AC3E}">
        <p14:creationId xmlns:p14="http://schemas.microsoft.com/office/powerpoint/2010/main" val="4058935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543" y="641507"/>
            <a:ext cx="7032172" cy="7635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5688BE-0AEB-D39D-9247-941A3D53F50D}"/>
              </a:ext>
            </a:extLst>
          </p:cNvPr>
          <p:cNvSpPr txBox="1"/>
          <p:nvPr/>
        </p:nvSpPr>
        <p:spPr>
          <a:xfrm>
            <a:off x="147782" y="1630816"/>
            <a:ext cx="339898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N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Telemetry Preprocessing Pipeline: 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Handled duplicate records, imputed missing values, applied IQR outlier clipping, standardized continuous variables, and derived IMU jerk and battery health features.</a:t>
            </a:r>
          </a:p>
          <a:p>
            <a:pPr>
              <a:spcAft>
                <a:spcPts val="800"/>
              </a:spcAft>
            </a:pPr>
            <a:r>
              <a:rPr lang="en-IN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Tractive Power Physics Formulation: 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Calculated total tractive force: </a:t>
            </a:r>
            <a:r>
              <a:rPr lang="en-IN" sz="1300" b="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F_traction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300" b="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F_rolling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300" b="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F_aero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300" b="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F_grade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IN" sz="1300" b="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F_acceleration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corresponding instantaneous power demand: </a:t>
            </a:r>
            <a:r>
              <a:rPr lang="en-IN" sz="1300" b="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P_demand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300" b="0" dirty="0" err="1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F_traction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v.</a:t>
            </a:r>
          </a:p>
          <a:p>
            <a:pPr>
              <a:spcAft>
                <a:spcPts val="800"/>
              </a:spcAft>
            </a:pPr>
            <a:r>
              <a:rPr lang="en-IN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Lag-Based Demand Forecasting: 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Constructed rolling-window lag features (t-1, t-2, t-3); trained 3 independent Random Forest Regressors using trip-level data partitioning to prevent temporal leakage.</a:t>
            </a:r>
          </a:p>
          <a:p>
            <a:pPr>
              <a:spcAft>
                <a:spcPts val="800"/>
              </a:spcAft>
            </a:pPr>
            <a:r>
              <a:rPr lang="en-IN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Hybrid Decision Engine Logic: </a:t>
            </a:r>
            <a:r>
              <a:rPr lang="en-IN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ML advisory mode recommendations with deterministic supervisory rules (regenerative priority, high-power boost, urban EV priority, and safety overrides).</a:t>
            </a:r>
          </a:p>
        </p:txBody>
      </p:sp>
      <p:pic>
        <p:nvPicPr>
          <p:cNvPr id="6" name="Picture 5" descr="page_17_img_0_259.png">
            <a:extLst>
              <a:ext uri="{FF2B5EF4-FFF2-40B4-BE49-F238E27FC236}">
                <a16:creationId xmlns:a16="http://schemas.microsoft.com/office/drawing/2014/main" id="{6D038041-66C0-2A0F-C32D-6489337FC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419" y="1188720"/>
            <a:ext cx="4658822" cy="496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10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0" y="593367"/>
            <a:ext cx="8048529" cy="7635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69D511-6C82-0519-E0A9-F496FF0DF8B6}"/>
              </a:ext>
            </a:extLst>
          </p:cNvPr>
          <p:cNvSpPr txBox="1"/>
          <p:nvPr/>
        </p:nvSpPr>
        <p:spPr>
          <a:xfrm>
            <a:off x="193964" y="1728279"/>
            <a:ext cx="3500581" cy="4006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Forecaster Performance: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across held-out test drive cycles using MAE, RMSE, and R2 metrics: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Vehicle Speed Predictor: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 = 0.941, MAE = 1.18 km/h, RMSE = 1.82 km/h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Vehicle Acceleration Predictor: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 = 0.887, MAE = 0.12 m/s2, RMSE = 0.21 m/s2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Vehicle Power Demand Predictor: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 = 0.912, MAE = 1.45 kW, RMSE = 2.34 kW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Confidence Analysis: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generated predictions exhibited confidence levels above 0.90, indicating high classification/regression certainty.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Distinction: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Confidence != Prediction Accuracy. Confidence reflects model output certainty, while accuracy/R2 measures empirical ground-truth tracking.</a:t>
            </a:r>
          </a:p>
        </p:txBody>
      </p:sp>
      <p:pic>
        <p:nvPicPr>
          <p:cNvPr id="6" name="Picture 5" descr="prediction_confidence.png">
            <a:extLst>
              <a:ext uri="{FF2B5EF4-FFF2-40B4-BE49-F238E27FC236}">
                <a16:creationId xmlns:a16="http://schemas.microsoft.com/office/drawing/2014/main" id="{F056959D-3555-3ADA-A99C-13C56A9BB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572" y="1280160"/>
            <a:ext cx="5145668" cy="284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147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0" y="593367"/>
            <a:ext cx="8048529" cy="7635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060A8-76FA-5156-9D52-5F975874D21B}"/>
              </a:ext>
            </a:extLst>
          </p:cNvPr>
          <p:cNvSpPr txBox="1"/>
          <p:nvPr/>
        </p:nvSpPr>
        <p:spPr>
          <a:xfrm>
            <a:off x="332510" y="1930899"/>
            <a:ext cx="334356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Traffic-Aware EV Preference: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heavy urban congestion, the EMS prioritizes EV mode (&gt;75% preference) to eliminate low-speed ICE idling and toxic urban emissions.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Route-Aware Power Allocation: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Highway segments trigger ICE engagement in its optimal brake-thermal efficiency sweet spot (2000–3000 RPM) while reserving battery charge for upcoming urban zones.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Regenerative Energy Recovery: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Deceleration and braking events automatically trigger Regen mode, capturing up to 92% of available kinetic energy into the high-voltage battery.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Safety Override Verifications: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deterministic overrides: SOC &lt; 20% immediately triggers ICE charging; battery temp &gt; 45°C limits peak power to prevent thermal stress.</a:t>
            </a:r>
          </a:p>
        </p:txBody>
      </p:sp>
      <p:pic>
        <p:nvPicPr>
          <p:cNvPr id="6" name="Picture 5" descr="traffic_ems_heatmap.png">
            <a:extLst>
              <a:ext uri="{FF2B5EF4-FFF2-40B4-BE49-F238E27FC236}">
                <a16:creationId xmlns:a16="http://schemas.microsoft.com/office/drawing/2014/main" id="{25E19559-6F1C-C7F6-6C00-7AECE07DE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144" y="1280160"/>
            <a:ext cx="4996096" cy="378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10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0" y="593367"/>
            <a:ext cx="8048529" cy="7635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55B67E-DC48-476C-C4B3-3B975155A315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1188720"/>
          <a:ext cx="4389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6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Fuel Economy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L/100 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SOC Deviation (RMS)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rPr dirty="0"/>
                        <a:t>1.86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Energy Recuperation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rPr dirty="0"/>
                        <a:t>92.0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EV Mode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rPr dirty="0"/>
                        <a:t>39.9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Hybrid Mode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ICE Mode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17.3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Operating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0.0358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Currency/km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CO2 Emissions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29.3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g/km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Average ICE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33.2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6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Peak Battery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22.17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rPr dirty="0"/>
                        <a:t>kW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531F881-E24E-FF0A-A284-87DA2ACD81DB}"/>
              </a:ext>
            </a:extLst>
          </p:cNvPr>
          <p:cNvSpPr txBox="1"/>
          <p:nvPr/>
        </p:nvSpPr>
        <p:spPr>
          <a:xfrm>
            <a:off x="5255489" y="1188720"/>
            <a:ext cx="370378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Fuel Economy (1.27 L/100km):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significant fuel reduction by leveraging EV mode during low-speed urban phases.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Energy Recuperation (92.0%):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regenerative braking controller captures majority of deceleration kinetic energy.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Tight SOC Regulation (1.86% RMS):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predictive EMS maintained battery charge balance without deep depletion spikes.</a:t>
            </a:r>
          </a:p>
          <a:p>
            <a:pPr>
              <a:spcAft>
                <a:spcPts val="800"/>
              </a:spcAft>
            </a:pPr>
            <a:r>
              <a:rPr lang="en-US" sz="13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Optimal Engine Loading (33.2% Eff): </a:t>
            </a:r>
            <a:r>
              <a:rPr lang="en-US" sz="1300" b="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ICE operated strictly near its peak brake-thermal efficiency sweet spot.</a:t>
            </a:r>
          </a:p>
        </p:txBody>
      </p:sp>
    </p:spTree>
    <p:extLst>
      <p:ext uri="{BB962C8B-B14F-4D97-AF65-F5344CB8AC3E}">
        <p14:creationId xmlns:p14="http://schemas.microsoft.com/office/powerpoint/2010/main" val="2024651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0" y="593367"/>
            <a:ext cx="8048529" cy="7635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0" y="1356867"/>
            <a:ext cx="8121099" cy="3713897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PoC Demonstration: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and validated a simulation-driven Proof-of-Concept for an AI-assisted supervisory Energy Management System for HEVs.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Intelligence Feasibility: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Proved that lag-based Random Forest demand forecasting effectively anticipates future vehicle speed, acceleration, and power demand (R2 &gt; 0.91).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Safety &amp; Reliability: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that coupling ML advisory predictions with a deterministic safety override layer eliminates risky mode allocations while optimizing energy distribution.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Empirical Validation: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1.27 L/100km fuel economy, 92% regenerative energy capture, and 1.86% SOC RMS deviation across multi-scenario drive cycles.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Technical Growth: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core competencies in time-series feature engineering, machine learning regression, modular automotive software architecture, and simulation-based validation.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215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0" y="593367"/>
            <a:ext cx="8048529" cy="7635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3770" y="1356867"/>
            <a:ext cx="8048530" cy="4907766"/>
          </a:xfrm>
        </p:spPr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ECU / Edge Deployment: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Porting trained Random Forest and feature-scaling pipelines to embedded automotive microcontrollers (C++ / ONNX Runtime) with low inference latency.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V2X &amp; Real-Time Telemetry: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live GPS navigation, terrain elevation profiles, and CAN/CAN-FD bus communication for real-time look-ahead horizon adjustment.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Control Algorithms: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Model Predictive Control (MPC) and Deep Reinforcement Learning (DRL) for continuous closed-loop torque-split optimization.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HIL &amp; Vehicle Dynamometer Testing: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software simulation to Hardware-in-the-Loop (HIL) testing and chassis dynamometer validation on physical vehicle hardware.</a:t>
            </a:r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02C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 Degradation &amp; Thermal EMS: </a:t>
            </a:r>
            <a:r>
              <a:rPr lang="en-US" sz="1600" dirty="0">
                <a:solidFill>
                  <a:srgbClr val="2828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electrochemical aging models and active battery thermal management into the predictive decision loop.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29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28" y="593367"/>
            <a:ext cx="8015871" cy="7635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0D167-1B43-F972-4DE2-87246B71C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3770" y="1356867"/>
            <a:ext cx="8048530" cy="4907766"/>
          </a:xfrm>
        </p:spPr>
        <p:txBody>
          <a:bodyPr/>
          <a:lstStyle/>
          <a:p>
            <a:pPr marL="393700" indent="-342900">
              <a:lnSpc>
                <a:spcPct val="107000"/>
              </a:lnSpc>
              <a:spcAft>
                <a:spcPts val="600"/>
              </a:spcAft>
              <a:buSzPct val="100000"/>
              <a:buFont typeface="+mj-lt"/>
              <a:buAutoNum type="arabicPeriod"/>
              <a:defRPr sz="1200" b="0">
                <a:solidFill>
                  <a:srgbClr val="282828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[1] A. Sciarretta and L.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Guzzella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'Control of hybrid electric vehicles,' IEEE Control Systems Magazine, vol. 27, no. 2, pp. 60–70, Apr. 2007.</a:t>
            </a:r>
          </a:p>
          <a:p>
            <a:pPr>
              <a:spcAft>
                <a:spcPts val="6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C. C. Chan, 'The state of the art of electric, hybrid, and fuel cell vehicles,' Proceedings of the IEEE, vol. 95, no. 4, pp. 704–718, Apr. 2007.</a:t>
            </a:r>
          </a:p>
          <a:p>
            <a:pPr>
              <a:spcAft>
                <a:spcPts val="6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I. Husain, Electric and Hybrid Vehicles: Design Fundamentals, 3rd ed., Boca Raton, FL, USA: CRC Press, 2021.</a:t>
            </a:r>
          </a:p>
          <a:p>
            <a:pPr>
              <a:spcAft>
                <a:spcPts val="6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L.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Breiman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'Random forests,' Machine Learning, vol. 45, no. 1, pp. 5–32, 2001.</a:t>
            </a:r>
          </a:p>
          <a:p>
            <a:pPr>
              <a:spcAft>
                <a:spcPts val="6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F.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Aminifar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Abedini, and T.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Amraee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'A review of power system protection and asset management with machine learning techniques,' Springer Nature, 2021.</a:t>
            </a:r>
          </a:p>
          <a:p>
            <a:pPr>
              <a:spcAft>
                <a:spcPts val="600"/>
              </a:spcAft>
              <a:defRPr sz="1200" b="0">
                <a:solidFill>
                  <a:srgbClr val="282828"/>
                </a:solidFill>
                <a:latin typeface="Calibri"/>
              </a:defRPr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UNECE, 'Worldwide Harmonized Light Vehicles Test Procedure (WLTP),' United Nations Economic Commission for Europe, Geneva, Switzerland, 2023.</a:t>
            </a:r>
          </a:p>
          <a:p>
            <a:pPr marL="393700" indent="-342900" algn="just">
              <a:lnSpc>
                <a:spcPct val="107000"/>
              </a:lnSpc>
              <a:spcAft>
                <a:spcPts val="800"/>
              </a:spcAft>
              <a:buSzPct val="100000"/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049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AB6F3-A833-440A-9EA2-3F58E122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7AAC3C9-DBB9-BAF0-284B-4089E804C154}"/>
              </a:ext>
            </a:extLst>
          </p:cNvPr>
          <p:cNvSpPr txBox="1">
            <a:spLocks/>
          </p:cNvSpPr>
          <p:nvPr/>
        </p:nvSpPr>
        <p:spPr>
          <a:xfrm>
            <a:off x="3726822" y="1745500"/>
            <a:ext cx="1690355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Archivo Narrow"/>
              <a:buNone/>
              <a:defRPr sz="36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Archivo Narrow"/>
              <a:buNone/>
              <a:defRPr sz="36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Archivo Narrow"/>
              <a:buNone/>
              <a:defRPr sz="36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Archivo Narrow"/>
              <a:buNone/>
              <a:defRPr sz="36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Archivo Narrow"/>
              <a:buNone/>
              <a:defRPr sz="36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Archivo Narrow"/>
              <a:buNone/>
              <a:defRPr sz="36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Archivo Narrow"/>
              <a:buNone/>
              <a:defRPr sz="36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Archivo Narrow"/>
              <a:buNone/>
              <a:defRPr sz="36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Archivo Narrow"/>
              <a:buNone/>
              <a:defRPr sz="36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algn="l"/>
            <a:r>
              <a:rPr lang="en-IN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424911883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1787</Words>
  <Application>Microsoft Office PowerPoint</Application>
  <PresentationFormat>On-screen Show (4:3)</PresentationFormat>
  <Paragraphs>186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Archivo Narrow</vt:lpstr>
      <vt:lpstr>Times New Roman</vt:lpstr>
      <vt:lpstr>Georgia</vt:lpstr>
      <vt:lpstr>Simple Light</vt:lpstr>
      <vt:lpstr>Summer Internship 2026-2027 ML &amp; Edge Computing enabled EMS for optimization of Hybrid Electric Powertrain</vt:lpstr>
      <vt:lpstr>Contents</vt:lpstr>
      <vt:lpstr>Introduction</vt:lpstr>
      <vt:lpstr>Literature Survey</vt:lpstr>
      <vt:lpstr>Literature Survey</vt:lpstr>
      <vt:lpstr>Literature Survey</vt:lpstr>
      <vt:lpstr>Literature Survey</vt:lpstr>
      <vt:lpstr>Literature Survey</vt:lpstr>
      <vt:lpstr>Objectives </vt:lpstr>
      <vt:lpstr>Graphical Abstract </vt:lpstr>
      <vt:lpstr>Proposed Methodology</vt:lpstr>
      <vt:lpstr>Results and Discussions</vt:lpstr>
      <vt:lpstr>Results and Discussions</vt:lpstr>
      <vt:lpstr>Results and Discussions</vt:lpstr>
      <vt:lpstr>Conclusions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Based Generator Protection System</dc:title>
  <dc:creator>Dr. Venkataswamy R</dc:creator>
  <cp:lastModifiedBy>Mishael Julian</cp:lastModifiedBy>
  <cp:revision>97</cp:revision>
  <dcterms:modified xsi:type="dcterms:W3CDTF">2026-09-04T06:56:51Z</dcterms:modified>
</cp:coreProperties>
</file>